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715"/>
  </p:normalViewPr>
  <p:slideViewPr>
    <p:cSldViewPr snapToGrid="0" snapToObjects="1">
      <p:cViewPr>
        <p:scale>
          <a:sx n="109" d="100"/>
          <a:sy n="109" d="100"/>
        </p:scale>
        <p:origin x="704"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5E20"/>
        </a:solidFill>
        <a:effectLst/>
      </p:bgPr>
    </p:bg>
    <p:spTree>
      <p:nvGrpSpPr>
        <p:cNvPr id="1" name=""/>
        <p:cNvGrpSpPr/>
        <p:nvPr/>
      </p:nvGrpSpPr>
      <p:grpSpPr>
        <a:xfrm>
          <a:off x="0" y="0"/>
          <a:ext cx="0" cy="0"/>
          <a:chOff x="0" y="0"/>
          <a:chExt cx="0" cy="0"/>
        </a:xfrm>
      </p:grpSpPr>
      <p:sp>
        <p:nvSpPr>
          <p:cNvPr id="2" name="Rectangle 1"/>
          <p:cNvSpPr/>
          <p:nvPr/>
        </p:nvSpPr>
        <p:spPr>
          <a:xfrm>
            <a:off x="0" y="5120640"/>
            <a:ext cx="12191695" cy="17373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7492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54480"/>
            <a:ext cx="10515600" cy="457200"/>
          </a:xfrm>
          <a:prstGeom prst="rect">
            <a:avLst/>
          </a:prstGeom>
          <a:noFill/>
        </p:spPr>
        <p:txBody>
          <a:bodyPr wrap="square" anchor="t">
            <a:spAutoFit/>
          </a:bodyPr>
          <a:lstStyle/>
          <a:p>
            <a:pPr algn="l">
              <a:lnSpc>
                <a:spcPct val="100000"/>
              </a:lnSpc>
            </a:pPr>
            <a:r>
              <a:rPr sz="1600" b="1" i="0">
                <a:solidFill>
                  <a:srgbClr val="C8E6C9"/>
                </a:solidFill>
                <a:latin typeface="Calibri"/>
              </a:rPr>
              <a:t>PROJET NOSQL — MASTER I — 2025-2026</a:t>
            </a:r>
          </a:p>
        </p:txBody>
      </p:sp>
      <p:sp>
        <p:nvSpPr>
          <p:cNvPr id="5" name="TextBox 4"/>
          <p:cNvSpPr txBox="1"/>
          <p:nvPr/>
        </p:nvSpPr>
        <p:spPr>
          <a:xfrm>
            <a:off x="822960" y="2011680"/>
            <a:ext cx="10515600" cy="1371600"/>
          </a:xfrm>
          <a:prstGeom prst="rect">
            <a:avLst/>
          </a:prstGeom>
          <a:noFill/>
        </p:spPr>
        <p:txBody>
          <a:bodyPr wrap="square" anchor="t">
            <a:spAutoFit/>
          </a:bodyPr>
          <a:lstStyle/>
          <a:p>
            <a:pPr algn="l">
              <a:lnSpc>
                <a:spcPct val="100000"/>
              </a:lnSpc>
            </a:pPr>
            <a:r>
              <a:rPr sz="5800" b="1" i="0">
                <a:solidFill>
                  <a:srgbClr val="FFFFFF"/>
                </a:solidFill>
                <a:latin typeface="Calibri"/>
              </a:rPr>
              <a:t>Libreville Eats</a:t>
            </a:r>
          </a:p>
        </p:txBody>
      </p:sp>
      <p:sp>
        <p:nvSpPr>
          <p:cNvPr id="6" name="TextBox 5"/>
          <p:cNvSpPr txBox="1"/>
          <p:nvPr/>
        </p:nvSpPr>
        <p:spPr>
          <a:xfrm>
            <a:off x="822960" y="3108960"/>
            <a:ext cx="10515600" cy="731520"/>
          </a:xfrm>
          <a:prstGeom prst="rect">
            <a:avLst/>
          </a:prstGeom>
          <a:noFill/>
        </p:spPr>
        <p:txBody>
          <a:bodyPr wrap="square" anchor="t">
            <a:spAutoFit/>
          </a:bodyPr>
          <a:lstStyle/>
          <a:p>
            <a:pPr algn="l">
              <a:lnSpc>
                <a:spcPct val="100000"/>
              </a:lnSpc>
            </a:pPr>
            <a:r>
              <a:rPr sz="2200" b="0" i="0">
                <a:solidFill>
                  <a:srgbClr val="E8F5E9"/>
                </a:solidFill>
                <a:latin typeface="Calibri"/>
              </a:rPr>
              <a:t>Application de livraison de repas — Modélisation MongoDB &amp; cache Redis</a:t>
            </a:r>
          </a:p>
        </p:txBody>
      </p:sp>
      <p:sp>
        <p:nvSpPr>
          <p:cNvPr id="7" name="TextBox 6"/>
          <p:cNvSpPr txBox="1"/>
          <p:nvPr/>
        </p:nvSpPr>
        <p:spPr>
          <a:xfrm>
            <a:off x="822960" y="5349240"/>
            <a:ext cx="10515600" cy="365760"/>
          </a:xfrm>
          <a:prstGeom prst="rect">
            <a:avLst/>
          </a:prstGeom>
          <a:noFill/>
        </p:spPr>
        <p:txBody>
          <a:bodyPr wrap="square" anchor="t">
            <a:spAutoFit/>
          </a:bodyPr>
          <a:lstStyle/>
          <a:p>
            <a:pPr algn="l">
              <a:lnSpc>
                <a:spcPct val="100000"/>
              </a:lnSpc>
            </a:pPr>
            <a:r>
              <a:rPr sz="1800" b="1" i="0">
                <a:solidFill>
                  <a:srgbClr val="FFFFFF"/>
                </a:solidFill>
                <a:latin typeface="Calibri"/>
              </a:rPr>
              <a:t>Groupe 3</a:t>
            </a:r>
          </a:p>
        </p:txBody>
      </p:sp>
      <p:sp>
        <p:nvSpPr>
          <p:cNvPr id="8" name="TextBox 7"/>
          <p:cNvSpPr txBox="1"/>
          <p:nvPr/>
        </p:nvSpPr>
        <p:spPr>
          <a:xfrm>
            <a:off x="822960" y="5715000"/>
            <a:ext cx="10515600" cy="822960"/>
          </a:xfrm>
          <a:prstGeom prst="rect">
            <a:avLst/>
          </a:prstGeom>
          <a:noFill/>
        </p:spPr>
        <p:txBody>
          <a:bodyPr wrap="square" anchor="t">
            <a:spAutoFit/>
          </a:bodyPr>
          <a:lstStyle/>
          <a:p>
            <a:pPr algn="l">
              <a:lnSpc>
                <a:spcPct val="100000"/>
              </a:lnSpc>
            </a:pPr>
            <a:r>
              <a:rPr sz="1400" b="0" i="0">
                <a:solidFill>
                  <a:srgbClr val="C8E6C9"/>
                </a:solidFill>
                <a:latin typeface="Calibri"/>
              </a:rPr>
              <a:t>BOUKINDA MAMBOUNDOU Jude   •   MAVOUNGOU Serge Murlain   •   BENOME NTOUTOUME Élise Josita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PLAN DE LA PRÉSENTATION</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Sommaire</a:t>
            </a:r>
          </a:p>
        </p:txBody>
      </p:sp>
      <p:sp>
        <p:nvSpPr>
          <p:cNvPr id="6" name="TextBox 5"/>
          <p:cNvSpPr txBox="1"/>
          <p:nvPr/>
        </p:nvSpPr>
        <p:spPr>
          <a:xfrm>
            <a:off x="731520" y="1645920"/>
            <a:ext cx="5303520" cy="3657600"/>
          </a:xfrm>
          <a:prstGeom prst="rect">
            <a:avLst/>
          </a:prstGeom>
          <a:noFill/>
        </p:spPr>
        <p:txBody>
          <a:bodyPr wrap="square">
            <a:spAutoFit/>
          </a:bodyPr>
          <a:lstStyle/>
          <a:p>
            <a:pPr>
              <a:lnSpc>
                <a:spcPct val="105000"/>
              </a:lnSpc>
              <a:spcAft>
                <a:spcPts val="2200"/>
              </a:spcAft>
            </a:pPr>
            <a:r>
              <a:rPr sz="2000">
                <a:solidFill>
                  <a:srgbClr val="212121"/>
                </a:solidFill>
                <a:latin typeface="Calibri"/>
              </a:rPr>
              <a:t>●  1. Introduction &amp; contexte métier</a:t>
            </a:r>
          </a:p>
          <a:p>
            <a:pPr>
              <a:lnSpc>
                <a:spcPct val="105000"/>
              </a:lnSpc>
              <a:spcAft>
                <a:spcPts val="2200"/>
              </a:spcAft>
            </a:pPr>
            <a:r>
              <a:rPr sz="2000">
                <a:solidFill>
                  <a:srgbClr val="212121"/>
                </a:solidFill>
                <a:latin typeface="Calibri"/>
              </a:rPr>
              <a:t>●  2. Modélisation NoSQL (embedding / referencing)</a:t>
            </a:r>
          </a:p>
          <a:p>
            <a:pPr>
              <a:lnSpc>
                <a:spcPct val="105000"/>
              </a:lnSpc>
              <a:spcAft>
                <a:spcPts val="2200"/>
              </a:spcAft>
            </a:pPr>
            <a:r>
              <a:rPr sz="2000">
                <a:solidFill>
                  <a:srgbClr val="212121"/>
                </a:solidFill>
                <a:latin typeface="Calibri"/>
              </a:rPr>
              <a:t>●  3. Implémentation (CRUD, machine à états, Redis)</a:t>
            </a:r>
          </a:p>
        </p:txBody>
      </p:sp>
      <p:sp>
        <p:nvSpPr>
          <p:cNvPr id="7" name="TextBox 6"/>
          <p:cNvSpPr txBox="1"/>
          <p:nvPr/>
        </p:nvSpPr>
        <p:spPr>
          <a:xfrm>
            <a:off x="6217920" y="1645920"/>
            <a:ext cx="5303520" cy="3657600"/>
          </a:xfrm>
          <a:prstGeom prst="rect">
            <a:avLst/>
          </a:prstGeom>
          <a:noFill/>
        </p:spPr>
        <p:txBody>
          <a:bodyPr wrap="square">
            <a:spAutoFit/>
          </a:bodyPr>
          <a:lstStyle/>
          <a:p>
            <a:pPr>
              <a:lnSpc>
                <a:spcPct val="105000"/>
              </a:lnSpc>
              <a:spcAft>
                <a:spcPts val="2200"/>
              </a:spcAft>
            </a:pPr>
            <a:r>
              <a:rPr sz="2000">
                <a:solidFill>
                  <a:srgbClr val="212121"/>
                </a:solidFill>
                <a:latin typeface="Calibri"/>
              </a:rPr>
              <a:t>●  4. Requêtes, agrégations &amp; indexation</a:t>
            </a:r>
          </a:p>
          <a:p>
            <a:pPr>
              <a:lnSpc>
                <a:spcPct val="105000"/>
              </a:lnSpc>
              <a:spcAft>
                <a:spcPts val="2200"/>
              </a:spcAft>
            </a:pPr>
            <a:r>
              <a:rPr sz="2000">
                <a:solidFill>
                  <a:srgbClr val="212121"/>
                </a:solidFill>
                <a:latin typeface="Calibri"/>
              </a:rPr>
              <a:t>●  5. Performances : COLLSCAN → IXSCAN</a:t>
            </a:r>
          </a:p>
          <a:p>
            <a:pPr>
              <a:lnSpc>
                <a:spcPct val="105000"/>
              </a:lnSpc>
              <a:spcAft>
                <a:spcPts val="2200"/>
              </a:spcAft>
            </a:pPr>
            <a:r>
              <a:rPr sz="2000">
                <a:solidFill>
                  <a:srgbClr val="212121"/>
                </a:solidFill>
                <a:latin typeface="Calibri"/>
              </a:rPr>
              <a:t>●  6. SQL vs NoSQL, difficultés &amp; conclusion</a:t>
            </a:r>
          </a:p>
        </p:txBody>
      </p:sp>
      <p:sp>
        <p:nvSpPr>
          <p:cNvPr id="8" name="TextBox 7"/>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9" name="TextBox 8"/>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1. INTRODUCTION</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Le projet Libreville Eats</a:t>
            </a:r>
          </a:p>
        </p:txBody>
      </p:sp>
      <p:sp>
        <p:nvSpPr>
          <p:cNvPr id="6" name="TextBox 5"/>
          <p:cNvSpPr txBox="1"/>
          <p:nvPr/>
        </p:nvSpPr>
        <p:spPr>
          <a:xfrm>
            <a:off x="502920" y="1325880"/>
            <a:ext cx="11155680" cy="731520"/>
          </a:xfrm>
          <a:prstGeom prst="rect">
            <a:avLst/>
          </a:prstGeom>
          <a:noFill/>
        </p:spPr>
        <p:txBody>
          <a:bodyPr wrap="square" anchor="t">
            <a:spAutoFit/>
          </a:bodyPr>
          <a:lstStyle/>
          <a:p>
            <a:pPr algn="l">
              <a:lnSpc>
                <a:spcPct val="100000"/>
              </a:lnSpc>
            </a:pPr>
            <a:r>
              <a:rPr sz="1600" b="0" i="0">
                <a:solidFill>
                  <a:srgbClr val="555555"/>
                </a:solidFill>
                <a:latin typeface="Calibri"/>
              </a:rPr>
              <a:t>Application de livraison de repas à domicile pour Libreville (Gabon) — trois acteurs autour d'une commande :</a:t>
            </a:r>
          </a:p>
        </p:txBody>
      </p:sp>
      <p:sp>
        <p:nvSpPr>
          <p:cNvPr id="7" name="Rectangle 6"/>
          <p:cNvSpPr/>
          <p:nvPr/>
        </p:nvSpPr>
        <p:spPr>
          <a:xfrm>
            <a:off x="502920" y="2148840"/>
            <a:ext cx="3611880" cy="19202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2148840"/>
            <a:ext cx="361188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77440"/>
            <a:ext cx="3200400" cy="457200"/>
          </a:xfrm>
          <a:prstGeom prst="rect">
            <a:avLst/>
          </a:prstGeom>
          <a:noFill/>
        </p:spPr>
        <p:txBody>
          <a:bodyPr wrap="square" anchor="t">
            <a:spAutoFit/>
          </a:bodyPr>
          <a:lstStyle/>
          <a:p>
            <a:pPr algn="l">
              <a:lnSpc>
                <a:spcPct val="100000"/>
              </a:lnSpc>
            </a:pPr>
            <a:r>
              <a:rPr sz="2000" b="1" i="0">
                <a:solidFill>
                  <a:srgbClr val="1B5E20"/>
                </a:solidFill>
                <a:latin typeface="Calibri"/>
              </a:rPr>
              <a:t>Client</a:t>
            </a:r>
          </a:p>
        </p:txBody>
      </p:sp>
      <p:sp>
        <p:nvSpPr>
          <p:cNvPr id="10" name="TextBox 9"/>
          <p:cNvSpPr txBox="1"/>
          <p:nvPr/>
        </p:nvSpPr>
        <p:spPr>
          <a:xfrm>
            <a:off x="731520" y="2880360"/>
            <a:ext cx="3200400" cy="1097280"/>
          </a:xfrm>
          <a:prstGeom prst="rect">
            <a:avLst/>
          </a:prstGeom>
          <a:noFill/>
        </p:spPr>
        <p:txBody>
          <a:bodyPr wrap="square" anchor="t">
            <a:spAutoFit/>
          </a:bodyPr>
          <a:lstStyle/>
          <a:p>
            <a:pPr algn="l">
              <a:lnSpc>
                <a:spcPct val="100000"/>
              </a:lnSpc>
            </a:pPr>
            <a:r>
              <a:rPr sz="1400" b="0" i="0">
                <a:solidFill>
                  <a:srgbClr val="212121"/>
                </a:solidFill>
                <a:latin typeface="Calibri"/>
              </a:rPr>
              <a:t>Parcourt les restaurants partenaires et commande</a:t>
            </a:r>
          </a:p>
        </p:txBody>
      </p:sp>
      <p:sp>
        <p:nvSpPr>
          <p:cNvPr id="11" name="Rectangle 10"/>
          <p:cNvSpPr/>
          <p:nvPr/>
        </p:nvSpPr>
        <p:spPr>
          <a:xfrm>
            <a:off x="4297680" y="2148840"/>
            <a:ext cx="3611880" cy="19202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148840"/>
            <a:ext cx="361188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2377440"/>
            <a:ext cx="3200400" cy="457200"/>
          </a:xfrm>
          <a:prstGeom prst="rect">
            <a:avLst/>
          </a:prstGeom>
          <a:noFill/>
        </p:spPr>
        <p:txBody>
          <a:bodyPr wrap="square" anchor="t">
            <a:spAutoFit/>
          </a:bodyPr>
          <a:lstStyle/>
          <a:p>
            <a:pPr algn="l">
              <a:lnSpc>
                <a:spcPct val="100000"/>
              </a:lnSpc>
            </a:pPr>
            <a:r>
              <a:rPr sz="2000" b="1" i="0">
                <a:solidFill>
                  <a:srgbClr val="1B5E20"/>
                </a:solidFill>
                <a:latin typeface="Calibri"/>
              </a:rPr>
              <a:t>Restaurateur</a:t>
            </a:r>
          </a:p>
        </p:txBody>
      </p:sp>
      <p:sp>
        <p:nvSpPr>
          <p:cNvPr id="14" name="TextBox 13"/>
          <p:cNvSpPr txBox="1"/>
          <p:nvPr/>
        </p:nvSpPr>
        <p:spPr>
          <a:xfrm>
            <a:off x="4526280" y="2880360"/>
            <a:ext cx="3200400" cy="1097280"/>
          </a:xfrm>
          <a:prstGeom prst="rect">
            <a:avLst/>
          </a:prstGeom>
          <a:noFill/>
        </p:spPr>
        <p:txBody>
          <a:bodyPr wrap="square" anchor="t">
            <a:spAutoFit/>
          </a:bodyPr>
          <a:lstStyle/>
          <a:p>
            <a:pPr algn="l">
              <a:lnSpc>
                <a:spcPct val="100000"/>
              </a:lnSpc>
            </a:pPr>
            <a:r>
              <a:rPr sz="1400" b="0" i="0">
                <a:solidFill>
                  <a:srgbClr val="212121"/>
                </a:solidFill>
                <a:latin typeface="Calibri"/>
              </a:rPr>
              <a:t>Gère un menu changeant (plats du jour, ruptures de stock)</a:t>
            </a:r>
          </a:p>
        </p:txBody>
      </p:sp>
      <p:sp>
        <p:nvSpPr>
          <p:cNvPr id="15" name="Rectangle 14"/>
          <p:cNvSpPr/>
          <p:nvPr/>
        </p:nvSpPr>
        <p:spPr>
          <a:xfrm>
            <a:off x="8092440" y="2148840"/>
            <a:ext cx="3611880" cy="19202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2148840"/>
            <a:ext cx="361188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377440"/>
            <a:ext cx="3200400" cy="457200"/>
          </a:xfrm>
          <a:prstGeom prst="rect">
            <a:avLst/>
          </a:prstGeom>
          <a:noFill/>
        </p:spPr>
        <p:txBody>
          <a:bodyPr wrap="square" anchor="t">
            <a:spAutoFit/>
          </a:bodyPr>
          <a:lstStyle/>
          <a:p>
            <a:pPr algn="l">
              <a:lnSpc>
                <a:spcPct val="100000"/>
              </a:lnSpc>
            </a:pPr>
            <a:r>
              <a:rPr sz="2000" b="1" i="0">
                <a:solidFill>
                  <a:srgbClr val="1B5E20"/>
                </a:solidFill>
                <a:latin typeface="Calibri"/>
              </a:rPr>
              <a:t>Livreur</a:t>
            </a:r>
          </a:p>
        </p:txBody>
      </p:sp>
      <p:sp>
        <p:nvSpPr>
          <p:cNvPr id="18" name="TextBox 17"/>
          <p:cNvSpPr txBox="1"/>
          <p:nvPr/>
        </p:nvSpPr>
        <p:spPr>
          <a:xfrm>
            <a:off x="8321040" y="2880360"/>
            <a:ext cx="3200400" cy="1097280"/>
          </a:xfrm>
          <a:prstGeom prst="rect">
            <a:avLst/>
          </a:prstGeom>
          <a:noFill/>
        </p:spPr>
        <p:txBody>
          <a:bodyPr wrap="square" anchor="t">
            <a:spAutoFit/>
          </a:bodyPr>
          <a:lstStyle/>
          <a:p>
            <a:pPr algn="l">
              <a:lnSpc>
                <a:spcPct val="100000"/>
              </a:lnSpc>
            </a:pPr>
            <a:r>
              <a:rPr sz="1400" b="0" i="0">
                <a:solidFill>
                  <a:srgbClr val="212121"/>
                </a:solidFill>
                <a:latin typeface="Calibri"/>
              </a:rPr>
              <a:t>Position GPS suivie en temps réel jusqu'à la livraison</a:t>
            </a:r>
          </a:p>
        </p:txBody>
      </p:sp>
      <p:sp>
        <p:nvSpPr>
          <p:cNvPr id="20" name="TextBox 19"/>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21" name="TextBox 20"/>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2. CONTEXTE MÉTIER</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Des contraintes qui orientent la modélisation</a:t>
            </a:r>
          </a:p>
        </p:txBody>
      </p:sp>
      <p:sp>
        <p:nvSpPr>
          <p:cNvPr id="6" name="TextBox 5"/>
          <p:cNvSpPr txBox="1"/>
          <p:nvPr/>
        </p:nvSpPr>
        <p:spPr>
          <a:xfrm>
            <a:off x="548640" y="1371600"/>
            <a:ext cx="11155680" cy="4846320"/>
          </a:xfrm>
          <a:prstGeom prst="rect">
            <a:avLst/>
          </a:prstGeom>
          <a:noFill/>
        </p:spPr>
        <p:txBody>
          <a:bodyPr wrap="square">
            <a:spAutoFit/>
          </a:bodyPr>
          <a:lstStyle/>
          <a:p>
            <a:pPr>
              <a:lnSpc>
                <a:spcPct val="105000"/>
              </a:lnSpc>
              <a:spcAft>
                <a:spcPts val="1600"/>
              </a:spcAft>
            </a:pPr>
            <a:r>
              <a:rPr sz="1700" b="1">
                <a:solidFill>
                  <a:srgbClr val="2E7D32"/>
                </a:solidFill>
                <a:latin typeface="Calibri"/>
              </a:rPr>
              <a:t>●  Connectivité mobile variable</a:t>
            </a:r>
            <a:r>
              <a:rPr sz="1700">
                <a:solidFill>
                  <a:srgbClr val="212121"/>
                </a:solidFill>
                <a:latin typeface="Calibri"/>
              </a:rPr>
              <a:t>  → API réactive même en pic de charge, cache Redis devant MongoDB</a:t>
            </a:r>
          </a:p>
          <a:p>
            <a:pPr>
              <a:lnSpc>
                <a:spcPct val="105000"/>
              </a:lnSpc>
              <a:spcAft>
                <a:spcPts val="1600"/>
              </a:spcAft>
            </a:pPr>
            <a:r>
              <a:rPr sz="1700" b="1">
                <a:solidFill>
                  <a:srgbClr val="2E7D32"/>
                </a:solidFill>
                <a:latin typeface="Calibri"/>
              </a:rPr>
              <a:t>●  Suivi temps réel</a:t>
            </a:r>
            <a:r>
              <a:rPr sz="1700">
                <a:solidFill>
                  <a:srgbClr val="212121"/>
                </a:solidFill>
                <a:latin typeface="Calibri"/>
              </a:rPr>
              <a:t>  → relevés GPS horodatés toutes les 20-30 s, sans dégrader le document parent</a:t>
            </a:r>
          </a:p>
          <a:p>
            <a:pPr>
              <a:lnSpc>
                <a:spcPct val="105000"/>
              </a:lnSpc>
              <a:spcAft>
                <a:spcPts val="1600"/>
              </a:spcAft>
            </a:pPr>
            <a:r>
              <a:rPr sz="1700" b="1">
                <a:solidFill>
                  <a:srgbClr val="2E7D32"/>
                </a:solidFill>
                <a:latin typeface="Calibri"/>
              </a:rPr>
              <a:t>●  Menus changeants</a:t>
            </a:r>
            <a:r>
              <a:rPr sz="1700">
                <a:solidFill>
                  <a:srgbClr val="212121"/>
                </a:solidFill>
                <a:latin typeface="Calibri"/>
              </a:rPr>
              <a:t>  → un plat épuisé disparaît immédiatement sans invalider les commandes passées</a:t>
            </a:r>
          </a:p>
          <a:p>
            <a:pPr>
              <a:lnSpc>
                <a:spcPct val="105000"/>
              </a:lnSpc>
              <a:spcAft>
                <a:spcPts val="1600"/>
              </a:spcAft>
            </a:pPr>
            <a:r>
              <a:rPr sz="1700" b="1">
                <a:solidFill>
                  <a:srgbClr val="2E7D32"/>
                </a:solidFill>
                <a:latin typeface="Calibri"/>
              </a:rPr>
              <a:t>●  Rôles multiples, compte unique</a:t>
            </a:r>
            <a:r>
              <a:rPr sz="1700">
                <a:solidFill>
                  <a:srgbClr val="212121"/>
                </a:solidFill>
                <a:latin typeface="Calibri"/>
              </a:rPr>
              <a:t>  → collection users unique avec champ role (CUSTOMER/VENDOR/DELIVERER/ADMIN)</a:t>
            </a:r>
          </a:p>
          <a:p>
            <a:pPr>
              <a:lnSpc>
                <a:spcPct val="105000"/>
              </a:lnSpc>
              <a:spcAft>
                <a:spcPts val="1600"/>
              </a:spcAft>
            </a:pPr>
            <a:r>
              <a:rPr sz="1700" b="1">
                <a:solidFill>
                  <a:srgbClr val="2E7D32"/>
                </a:solidFill>
                <a:latin typeface="Calibri"/>
              </a:rPr>
              <a:t>●  Ancrage local</a:t>
            </a:r>
            <a:r>
              <a:rPr sz="1700">
                <a:solidFill>
                  <a:srgbClr val="212121"/>
                </a:solidFill>
                <a:latin typeface="Calibri"/>
              </a:rPr>
              <a:t>  → quartiers de Libreville, plats gabonais, téléphones +241, montants en FCFA</a:t>
            </a:r>
          </a:p>
        </p:txBody>
      </p:sp>
      <p:sp>
        <p:nvSpPr>
          <p:cNvPr id="7" name="TextBox 6"/>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8" name="TextBox 7"/>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3. MODÉLISATION NOSQL</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Quatre collections principales</a:t>
            </a:r>
          </a:p>
        </p:txBody>
      </p:sp>
      <p:graphicFrame>
        <p:nvGraphicFramePr>
          <p:cNvPr id="6" name="Table 5"/>
          <p:cNvGraphicFramePr>
            <a:graphicFrameLocks noGrp="1"/>
          </p:cNvGraphicFramePr>
          <p:nvPr/>
        </p:nvGraphicFramePr>
        <p:xfrm>
          <a:off x="548640" y="1371600"/>
          <a:ext cx="11064238" cy="2377440"/>
        </p:xfrm>
        <a:graphic>
          <a:graphicData uri="http://schemas.openxmlformats.org/drawingml/2006/table">
            <a:tbl>
              <a:tblPr firstRow="1" bandRow="1">
                <a:tableStyleId>{5C22544A-7EE6-4342-B048-85BDC9FD1C3A}</a:tableStyleId>
              </a:tblPr>
              <a:tblGrid>
                <a:gridCol w="2318221">
                  <a:extLst>
                    <a:ext uri="{9D8B030D-6E8A-4147-A177-3AD203B41FA5}">
                      <a16:colId xmlns:a16="http://schemas.microsoft.com/office/drawing/2014/main" val="20000"/>
                    </a:ext>
                  </a:extLst>
                </a:gridCol>
                <a:gridCol w="6849291">
                  <a:extLst>
                    <a:ext uri="{9D8B030D-6E8A-4147-A177-3AD203B41FA5}">
                      <a16:colId xmlns:a16="http://schemas.microsoft.com/office/drawing/2014/main" val="20001"/>
                    </a:ext>
                  </a:extLst>
                </a:gridCol>
                <a:gridCol w="1896726">
                  <a:extLst>
                    <a:ext uri="{9D8B030D-6E8A-4147-A177-3AD203B41FA5}">
                      <a16:colId xmlns:a16="http://schemas.microsoft.com/office/drawing/2014/main" val="20002"/>
                    </a:ext>
                  </a:extLst>
                </a:gridCol>
              </a:tblGrid>
              <a:tr h="475488">
                <a:tc>
                  <a:txBody>
                    <a:bodyPr/>
                    <a:lstStyle/>
                    <a:p>
                      <a:pPr algn="l"/>
                      <a:r>
                        <a:rPr sz="1500" b="1">
                          <a:solidFill>
                            <a:srgbClr val="FFFFFF"/>
                          </a:solidFill>
                        </a:rPr>
                        <a:t>Collection</a:t>
                      </a:r>
                    </a:p>
                  </a:txBody>
                  <a:tcPr marT="50800" marB="50800" anchor="ctr">
                    <a:solidFill>
                      <a:srgbClr val="2E7D32"/>
                    </a:solidFill>
                  </a:tcPr>
                </a:tc>
                <a:tc>
                  <a:txBody>
                    <a:bodyPr/>
                    <a:lstStyle/>
                    <a:p>
                      <a:pPr algn="l"/>
                      <a:r>
                        <a:rPr sz="1500" b="1">
                          <a:solidFill>
                            <a:srgbClr val="FFFFFF"/>
                          </a:solidFill>
                        </a:rPr>
                        <a:t>Rôle</a:t>
                      </a:r>
                    </a:p>
                  </a:txBody>
                  <a:tcPr marT="50800" marB="50800" anchor="ctr">
                    <a:solidFill>
                      <a:srgbClr val="2E7D32"/>
                    </a:solidFill>
                  </a:tcPr>
                </a:tc>
                <a:tc>
                  <a:txBody>
                    <a:bodyPr/>
                    <a:lstStyle/>
                    <a:p>
                      <a:pPr algn="l"/>
                      <a:r>
                        <a:rPr sz="1500" b="1">
                          <a:solidFill>
                            <a:srgbClr val="FFFFFF"/>
                          </a:solidFill>
                        </a:rPr>
                        <a:t>Documents min.</a:t>
                      </a:r>
                    </a:p>
                  </a:txBody>
                  <a:tcPr marT="50800" marB="50800" anchor="ctr">
                    <a:solidFill>
                      <a:srgbClr val="2E7D32"/>
                    </a:solidFill>
                  </a:tcPr>
                </a:tc>
                <a:extLst>
                  <a:ext uri="{0D108BD9-81ED-4DB2-BD59-A6C34878D82A}">
                    <a16:rowId xmlns:a16="http://schemas.microsoft.com/office/drawing/2014/main" val="10000"/>
                  </a:ext>
                </a:extLst>
              </a:tr>
              <a:tr h="475488">
                <a:tc>
                  <a:txBody>
                    <a:bodyPr/>
                    <a:lstStyle/>
                    <a:p>
                      <a:r>
                        <a:rPr sz="1500">
                          <a:solidFill>
                            <a:srgbClr val="212121"/>
                          </a:solidFill>
                        </a:rPr>
                        <a:t>users</a:t>
                      </a:r>
                    </a:p>
                  </a:txBody>
                  <a:tcPr marT="38100" marB="38100" anchor="ctr">
                    <a:solidFill>
                      <a:srgbClr val="E8F5E9"/>
                    </a:solidFill>
                  </a:tcPr>
                </a:tc>
                <a:tc>
                  <a:txBody>
                    <a:bodyPr/>
                    <a:lstStyle/>
                    <a:p>
                      <a:r>
                        <a:rPr sz="1500">
                          <a:solidFill>
                            <a:srgbClr val="212121"/>
                          </a:solidFill>
                        </a:rPr>
                        <a:t>Comptes clients, restaurateurs, livreurs, admin</a:t>
                      </a:r>
                    </a:p>
                  </a:txBody>
                  <a:tcPr marT="38100" marB="38100" anchor="ctr">
                    <a:solidFill>
                      <a:srgbClr val="E8F5E9"/>
                    </a:solidFill>
                  </a:tcPr>
                </a:tc>
                <a:tc>
                  <a:txBody>
                    <a:bodyPr/>
                    <a:lstStyle/>
                    <a:p>
                      <a:r>
                        <a:rPr sz="1500">
                          <a:solidFill>
                            <a:srgbClr val="212121"/>
                          </a:solidFill>
                        </a:rPr>
                        <a:t>30-50</a:t>
                      </a:r>
                    </a:p>
                  </a:txBody>
                  <a:tcPr marT="38100" marB="38100" anchor="ctr">
                    <a:solidFill>
                      <a:srgbClr val="E8F5E9"/>
                    </a:solidFill>
                  </a:tcPr>
                </a:tc>
                <a:extLst>
                  <a:ext uri="{0D108BD9-81ED-4DB2-BD59-A6C34878D82A}">
                    <a16:rowId xmlns:a16="http://schemas.microsoft.com/office/drawing/2014/main" val="10001"/>
                  </a:ext>
                </a:extLst>
              </a:tr>
              <a:tr h="475488">
                <a:tc>
                  <a:txBody>
                    <a:bodyPr/>
                    <a:lstStyle/>
                    <a:p>
                      <a:r>
                        <a:rPr sz="1500">
                          <a:solidFill>
                            <a:srgbClr val="212121"/>
                          </a:solidFill>
                        </a:rPr>
                        <a:t>restaurants</a:t>
                      </a:r>
                    </a:p>
                  </a:txBody>
                  <a:tcPr marT="38100" marB="38100" anchor="ctr">
                    <a:solidFill>
                      <a:srgbClr val="FFFFFF"/>
                    </a:solidFill>
                  </a:tcPr>
                </a:tc>
                <a:tc>
                  <a:txBody>
                    <a:bodyPr/>
                    <a:lstStyle/>
                    <a:p>
                      <a:r>
                        <a:rPr sz="1500">
                          <a:solidFill>
                            <a:srgbClr val="212121"/>
                          </a:solidFill>
                        </a:rPr>
                        <a:t>Établissements partenaires, menus embarqués</a:t>
                      </a:r>
                    </a:p>
                  </a:txBody>
                  <a:tcPr marT="38100" marB="38100" anchor="ctr">
                    <a:solidFill>
                      <a:srgbClr val="FFFFFF"/>
                    </a:solidFill>
                  </a:tcPr>
                </a:tc>
                <a:tc>
                  <a:txBody>
                    <a:bodyPr/>
                    <a:lstStyle/>
                    <a:p>
                      <a:r>
                        <a:rPr sz="1500">
                          <a:solidFill>
                            <a:srgbClr val="212121"/>
                          </a:solidFill>
                        </a:rPr>
                        <a:t>30-50</a:t>
                      </a:r>
                    </a:p>
                  </a:txBody>
                  <a:tcPr marT="38100" marB="38100" anchor="ctr">
                    <a:solidFill>
                      <a:srgbClr val="FFFFFF"/>
                    </a:solidFill>
                  </a:tcPr>
                </a:tc>
                <a:extLst>
                  <a:ext uri="{0D108BD9-81ED-4DB2-BD59-A6C34878D82A}">
                    <a16:rowId xmlns:a16="http://schemas.microsoft.com/office/drawing/2014/main" val="10002"/>
                  </a:ext>
                </a:extLst>
              </a:tr>
              <a:tr h="475488">
                <a:tc>
                  <a:txBody>
                    <a:bodyPr/>
                    <a:lstStyle/>
                    <a:p>
                      <a:r>
                        <a:rPr sz="1500">
                          <a:solidFill>
                            <a:srgbClr val="212121"/>
                          </a:solidFill>
                        </a:rPr>
                        <a:t>commandes</a:t>
                      </a:r>
                    </a:p>
                  </a:txBody>
                  <a:tcPr marT="38100" marB="38100" anchor="ctr">
                    <a:solidFill>
                      <a:srgbClr val="E8F5E9"/>
                    </a:solidFill>
                  </a:tcPr>
                </a:tc>
                <a:tc>
                  <a:txBody>
                    <a:bodyPr/>
                    <a:lstStyle/>
                    <a:p>
                      <a:r>
                        <a:rPr sz="1500">
                          <a:solidFill>
                            <a:srgbClr val="212121"/>
                          </a:solidFill>
                        </a:rPr>
                        <a:t>Commandes, snapshot articles, statuts, tracé GPS</a:t>
                      </a:r>
                    </a:p>
                  </a:txBody>
                  <a:tcPr marT="38100" marB="38100" anchor="ctr">
                    <a:solidFill>
                      <a:srgbClr val="E8F5E9"/>
                    </a:solidFill>
                  </a:tcPr>
                </a:tc>
                <a:tc>
                  <a:txBody>
                    <a:bodyPr/>
                    <a:lstStyle/>
                    <a:p>
                      <a:r>
                        <a:rPr sz="1500">
                          <a:solidFill>
                            <a:srgbClr val="212121"/>
                          </a:solidFill>
                        </a:rPr>
                        <a:t>30-50</a:t>
                      </a:r>
                    </a:p>
                  </a:txBody>
                  <a:tcPr marT="38100" marB="38100" anchor="ctr">
                    <a:solidFill>
                      <a:srgbClr val="E8F5E9"/>
                    </a:solidFill>
                  </a:tcPr>
                </a:tc>
                <a:extLst>
                  <a:ext uri="{0D108BD9-81ED-4DB2-BD59-A6C34878D82A}">
                    <a16:rowId xmlns:a16="http://schemas.microsoft.com/office/drawing/2014/main" val="10003"/>
                  </a:ext>
                </a:extLst>
              </a:tr>
              <a:tr h="475488">
                <a:tc>
                  <a:txBody>
                    <a:bodyPr/>
                    <a:lstStyle/>
                    <a:p>
                      <a:r>
                        <a:rPr sz="1500">
                          <a:solidFill>
                            <a:srgbClr val="212121"/>
                          </a:solidFill>
                        </a:rPr>
                        <a:t>deliverers</a:t>
                      </a:r>
                    </a:p>
                  </a:txBody>
                  <a:tcPr marT="38100" marB="38100" anchor="ctr">
                    <a:solidFill>
                      <a:srgbClr val="FFFFFF"/>
                    </a:solidFill>
                  </a:tcPr>
                </a:tc>
                <a:tc>
                  <a:txBody>
                    <a:bodyPr/>
                    <a:lstStyle/>
                    <a:p>
                      <a:r>
                        <a:rPr sz="1500">
                          <a:solidFill>
                            <a:srgbClr val="212121"/>
                          </a:solidFill>
                        </a:rPr>
                        <a:t>Profils métier des livreurs (véhicule, position)</a:t>
                      </a:r>
                    </a:p>
                  </a:txBody>
                  <a:tcPr marT="38100" marB="38100" anchor="ctr">
                    <a:solidFill>
                      <a:srgbClr val="FFFFFF"/>
                    </a:solidFill>
                  </a:tcPr>
                </a:tc>
                <a:tc>
                  <a:txBody>
                    <a:bodyPr/>
                    <a:lstStyle/>
                    <a:p>
                      <a:r>
                        <a:rPr sz="1500">
                          <a:solidFill>
                            <a:srgbClr val="212121"/>
                          </a:solidFill>
                        </a:rPr>
                        <a:t>30-50</a:t>
                      </a:r>
                    </a:p>
                  </a:txBody>
                  <a:tcPr marT="38100" marB="38100"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023360"/>
            <a:ext cx="11064240" cy="2194560"/>
          </a:xfrm>
          <a:prstGeom prst="rect">
            <a:avLst/>
          </a:prstGeom>
          <a:noFill/>
        </p:spPr>
        <p:txBody>
          <a:bodyPr wrap="square" anchor="t">
            <a:spAutoFit/>
          </a:bodyPr>
          <a:lstStyle/>
          <a:p>
            <a:pPr algn="l">
              <a:lnSpc>
                <a:spcPct val="125000"/>
              </a:lnSpc>
            </a:pPr>
            <a:r>
              <a:rPr sz="1600" b="0" i="0">
                <a:solidFill>
                  <a:srgbClr val="212121"/>
                </a:solidFill>
                <a:latin typeface="Calibri"/>
              </a:rPr>
              <a:t>Règle générale appliquée : on embarque une donnée lue quasi systématiquement avec son document parent, de taille bornée et prévisible, peu sujette à une croissance non corrélée. On la référence quand l'entité a un cycle de vie propre, une cardinalité illimitée, ou est partagée entre plusieurs documents parents.</a:t>
            </a:r>
          </a:p>
        </p:txBody>
      </p:sp>
      <p:sp>
        <p:nvSpPr>
          <p:cNvPr id="8" name="TextBox 7"/>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9" name="TextBox 8"/>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3. MODÉLISATION NOSQL</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Embedding vs Referencing</a:t>
            </a:r>
          </a:p>
        </p:txBody>
      </p:sp>
      <p:graphicFrame>
        <p:nvGraphicFramePr>
          <p:cNvPr id="6" name="Table 5"/>
          <p:cNvGraphicFramePr>
            <a:graphicFrameLocks noGrp="1"/>
          </p:cNvGraphicFramePr>
          <p:nvPr/>
        </p:nvGraphicFramePr>
        <p:xfrm>
          <a:off x="457200" y="1325880"/>
          <a:ext cx="11247118" cy="4937760"/>
        </p:xfrm>
        <a:graphic>
          <a:graphicData uri="http://schemas.openxmlformats.org/drawingml/2006/table">
            <a:tbl>
              <a:tblPr firstRow="1" bandRow="1">
                <a:tableStyleId>{5C22544A-7EE6-4342-B048-85BDC9FD1C3A}</a:tableStyleId>
              </a:tblPr>
              <a:tblGrid>
                <a:gridCol w="3157086">
                  <a:extLst>
                    <a:ext uri="{9D8B030D-6E8A-4147-A177-3AD203B41FA5}">
                      <a16:colId xmlns:a16="http://schemas.microsoft.com/office/drawing/2014/main" val="20000"/>
                    </a:ext>
                  </a:extLst>
                </a:gridCol>
                <a:gridCol w="2170496">
                  <a:extLst>
                    <a:ext uri="{9D8B030D-6E8A-4147-A177-3AD203B41FA5}">
                      <a16:colId xmlns:a16="http://schemas.microsoft.com/office/drawing/2014/main" val="20001"/>
                    </a:ext>
                  </a:extLst>
                </a:gridCol>
                <a:gridCol w="5919536">
                  <a:extLst>
                    <a:ext uri="{9D8B030D-6E8A-4147-A177-3AD203B41FA5}">
                      <a16:colId xmlns:a16="http://schemas.microsoft.com/office/drawing/2014/main" val="20002"/>
                    </a:ext>
                  </a:extLst>
                </a:gridCol>
              </a:tblGrid>
              <a:tr h="617220">
                <a:tc>
                  <a:txBody>
                    <a:bodyPr/>
                    <a:lstStyle/>
                    <a:p>
                      <a:pPr algn="l"/>
                      <a:r>
                        <a:rPr sz="1400" b="1">
                          <a:solidFill>
                            <a:srgbClr val="FFFFFF"/>
                          </a:solidFill>
                        </a:rPr>
                        <a:t>Donnée</a:t>
                      </a:r>
                    </a:p>
                  </a:txBody>
                  <a:tcPr marT="50800" marB="50800" anchor="ctr">
                    <a:solidFill>
                      <a:srgbClr val="2E7D32"/>
                    </a:solidFill>
                  </a:tcPr>
                </a:tc>
                <a:tc>
                  <a:txBody>
                    <a:bodyPr/>
                    <a:lstStyle/>
                    <a:p>
                      <a:pPr algn="l"/>
                      <a:r>
                        <a:rPr sz="1400" b="1">
                          <a:solidFill>
                            <a:srgbClr val="FFFFFF"/>
                          </a:solidFill>
                        </a:rPr>
                        <a:t>Choix</a:t>
                      </a:r>
                    </a:p>
                  </a:txBody>
                  <a:tcPr marT="50800" marB="50800" anchor="ctr">
                    <a:solidFill>
                      <a:srgbClr val="2E7D32"/>
                    </a:solidFill>
                  </a:tcPr>
                </a:tc>
                <a:tc>
                  <a:txBody>
                    <a:bodyPr/>
                    <a:lstStyle/>
                    <a:p>
                      <a:pPr algn="l"/>
                      <a:r>
                        <a:rPr sz="1400" b="1">
                          <a:solidFill>
                            <a:srgbClr val="FFFFFF"/>
                          </a:solidFill>
                        </a:rPr>
                        <a:t>Justification</a:t>
                      </a:r>
                    </a:p>
                  </a:txBody>
                  <a:tcPr marT="50800" marB="50800" anchor="ctr">
                    <a:solidFill>
                      <a:srgbClr val="2E7D32"/>
                    </a:solidFill>
                  </a:tcPr>
                </a:tc>
                <a:extLst>
                  <a:ext uri="{0D108BD9-81ED-4DB2-BD59-A6C34878D82A}">
                    <a16:rowId xmlns:a16="http://schemas.microsoft.com/office/drawing/2014/main" val="10000"/>
                  </a:ext>
                </a:extLst>
              </a:tr>
              <a:tr h="617220">
                <a:tc>
                  <a:txBody>
                    <a:bodyPr/>
                    <a:lstStyle/>
                    <a:p>
                      <a:r>
                        <a:rPr sz="1300">
                          <a:solidFill>
                            <a:srgbClr val="212121"/>
                          </a:solidFill>
                        </a:rPr>
                        <a:t>Adresses utilisateur</a:t>
                      </a:r>
                    </a:p>
                  </a:txBody>
                  <a:tcPr marT="38100" marB="38100" anchor="ctr">
                    <a:solidFill>
                      <a:srgbClr val="E8F5E9"/>
                    </a:solidFill>
                  </a:tcPr>
                </a:tc>
                <a:tc>
                  <a:txBody>
                    <a:bodyPr/>
                    <a:lstStyle/>
                    <a:p>
                      <a:r>
                        <a:rPr sz="1300">
                          <a:solidFill>
                            <a:srgbClr val="212121"/>
                          </a:solidFill>
                        </a:rPr>
                        <a:t>Embedding</a:t>
                      </a:r>
                    </a:p>
                  </a:txBody>
                  <a:tcPr marT="38100" marB="38100" anchor="ctr">
                    <a:solidFill>
                      <a:srgbClr val="E8F5E9"/>
                    </a:solidFill>
                  </a:tcPr>
                </a:tc>
                <a:tc>
                  <a:txBody>
                    <a:bodyPr/>
                    <a:lstStyle/>
                    <a:p>
                      <a:r>
                        <a:rPr sz="1300">
                          <a:solidFill>
                            <a:srgbClr val="212121"/>
                          </a:solidFill>
                        </a:rPr>
                        <a:t>Petites, toujours lues avec le profil</a:t>
                      </a:r>
                    </a:p>
                  </a:txBody>
                  <a:tcPr marT="38100" marB="38100" anchor="ctr">
                    <a:solidFill>
                      <a:srgbClr val="E8F5E9"/>
                    </a:solidFill>
                  </a:tcPr>
                </a:tc>
                <a:extLst>
                  <a:ext uri="{0D108BD9-81ED-4DB2-BD59-A6C34878D82A}">
                    <a16:rowId xmlns:a16="http://schemas.microsoft.com/office/drawing/2014/main" val="10001"/>
                  </a:ext>
                </a:extLst>
              </a:tr>
              <a:tr h="617220">
                <a:tc>
                  <a:txBody>
                    <a:bodyPr/>
                    <a:lstStyle/>
                    <a:p>
                      <a:r>
                        <a:rPr sz="1300">
                          <a:solidFill>
                            <a:srgbClr val="212121"/>
                          </a:solidFill>
                        </a:rPr>
                        <a:t>Menus &amp; plats</a:t>
                      </a:r>
                    </a:p>
                  </a:txBody>
                  <a:tcPr marT="38100" marB="38100" anchor="ctr">
                    <a:solidFill>
                      <a:srgbClr val="FFFFFF"/>
                    </a:solidFill>
                  </a:tcPr>
                </a:tc>
                <a:tc>
                  <a:txBody>
                    <a:bodyPr/>
                    <a:lstStyle/>
                    <a:p>
                      <a:r>
                        <a:rPr sz="1300">
                          <a:solidFill>
                            <a:srgbClr val="212121"/>
                          </a:solidFill>
                        </a:rPr>
                        <a:t>Embedding</a:t>
                      </a:r>
                    </a:p>
                  </a:txBody>
                  <a:tcPr marT="38100" marB="38100" anchor="ctr">
                    <a:solidFill>
                      <a:srgbClr val="FFFFFF"/>
                    </a:solidFill>
                  </a:tcPr>
                </a:tc>
                <a:tc>
                  <a:txBody>
                    <a:bodyPr/>
                    <a:lstStyle/>
                    <a:p>
                      <a:r>
                        <a:rPr sz="1300">
                          <a:solidFill>
                            <a:srgbClr val="212121"/>
                          </a:solidFill>
                        </a:rPr>
                        <a:t>Toujours lus ensemble, maj atomique du statut</a:t>
                      </a:r>
                    </a:p>
                  </a:txBody>
                  <a:tcPr marT="38100" marB="38100" anchor="ctr">
                    <a:solidFill>
                      <a:srgbClr val="FFFFFF"/>
                    </a:solidFill>
                  </a:tcPr>
                </a:tc>
                <a:extLst>
                  <a:ext uri="{0D108BD9-81ED-4DB2-BD59-A6C34878D82A}">
                    <a16:rowId xmlns:a16="http://schemas.microsoft.com/office/drawing/2014/main" val="10002"/>
                  </a:ext>
                </a:extLst>
              </a:tr>
              <a:tr h="617220">
                <a:tc>
                  <a:txBody>
                    <a:bodyPr/>
                    <a:lstStyle/>
                    <a:p>
                      <a:r>
                        <a:rPr sz="1300">
                          <a:solidFill>
                            <a:srgbClr val="212121"/>
                          </a:solidFill>
                        </a:rPr>
                        <a:t>items[] (commande)</a:t>
                      </a:r>
                    </a:p>
                  </a:txBody>
                  <a:tcPr marT="38100" marB="38100" anchor="ctr">
                    <a:solidFill>
                      <a:srgbClr val="E8F5E9"/>
                    </a:solidFill>
                  </a:tcPr>
                </a:tc>
                <a:tc>
                  <a:txBody>
                    <a:bodyPr/>
                    <a:lstStyle/>
                    <a:p>
                      <a:r>
                        <a:rPr sz="1300">
                          <a:solidFill>
                            <a:srgbClr val="212121"/>
                          </a:solidFill>
                        </a:rPr>
                        <a:t>Embedding (snapshot)</a:t>
                      </a:r>
                    </a:p>
                  </a:txBody>
                  <a:tcPr marT="38100" marB="38100" anchor="ctr">
                    <a:solidFill>
                      <a:srgbClr val="E8F5E9"/>
                    </a:solidFill>
                  </a:tcPr>
                </a:tc>
                <a:tc>
                  <a:txBody>
                    <a:bodyPr/>
                    <a:lstStyle/>
                    <a:p>
                      <a:r>
                        <a:rPr sz="1300">
                          <a:solidFill>
                            <a:srgbClr val="212121"/>
                          </a:solidFill>
                        </a:rPr>
                        <a:t>Le prix payé ne doit pas suivre l'évolution du menu</a:t>
                      </a:r>
                    </a:p>
                  </a:txBody>
                  <a:tcPr marT="38100" marB="38100" anchor="ctr">
                    <a:solidFill>
                      <a:srgbClr val="E8F5E9"/>
                    </a:solidFill>
                  </a:tcPr>
                </a:tc>
                <a:extLst>
                  <a:ext uri="{0D108BD9-81ED-4DB2-BD59-A6C34878D82A}">
                    <a16:rowId xmlns:a16="http://schemas.microsoft.com/office/drawing/2014/main" val="10003"/>
                  </a:ext>
                </a:extLst>
              </a:tr>
              <a:tr h="617220">
                <a:tc>
                  <a:txBody>
                    <a:bodyPr/>
                    <a:lstStyle/>
                    <a:p>
                      <a:r>
                        <a:rPr sz="1300">
                          <a:solidFill>
                            <a:srgbClr val="212121"/>
                          </a:solidFill>
                        </a:rPr>
                        <a:t>statusHistory[]</a:t>
                      </a:r>
                    </a:p>
                  </a:txBody>
                  <a:tcPr marT="38100" marB="38100" anchor="ctr">
                    <a:solidFill>
                      <a:srgbClr val="FFFFFF"/>
                    </a:solidFill>
                  </a:tcPr>
                </a:tc>
                <a:tc>
                  <a:txBody>
                    <a:bodyPr/>
                    <a:lstStyle/>
                    <a:p>
                      <a:r>
                        <a:rPr sz="1300">
                          <a:solidFill>
                            <a:srgbClr val="212121"/>
                          </a:solidFill>
                        </a:rPr>
                        <a:t>Embedding</a:t>
                      </a:r>
                    </a:p>
                  </a:txBody>
                  <a:tcPr marT="38100" marB="38100" anchor="ctr">
                    <a:solidFill>
                      <a:srgbClr val="FFFFFF"/>
                    </a:solidFill>
                  </a:tcPr>
                </a:tc>
                <a:tc>
                  <a:txBody>
                    <a:bodyPr/>
                    <a:lstStyle/>
                    <a:p>
                      <a:r>
                        <a:rPr sz="1300">
                          <a:solidFill>
                            <a:srgbClr val="212121"/>
                          </a:solidFill>
                        </a:rPr>
                        <a:t>Audit trail borné, consulté avec la commande</a:t>
                      </a:r>
                    </a:p>
                  </a:txBody>
                  <a:tcPr marT="38100" marB="38100" anchor="ctr">
                    <a:solidFill>
                      <a:srgbClr val="FFFFFF"/>
                    </a:solidFill>
                  </a:tcPr>
                </a:tc>
                <a:extLst>
                  <a:ext uri="{0D108BD9-81ED-4DB2-BD59-A6C34878D82A}">
                    <a16:rowId xmlns:a16="http://schemas.microsoft.com/office/drawing/2014/main" val="10004"/>
                  </a:ext>
                </a:extLst>
              </a:tr>
              <a:tr h="617220">
                <a:tc>
                  <a:txBody>
                    <a:bodyPr/>
                    <a:lstStyle/>
                    <a:p>
                      <a:r>
                        <a:rPr sz="1300">
                          <a:solidFill>
                            <a:srgbClr val="212121"/>
                          </a:solidFill>
                        </a:rPr>
                        <a:t>deliveryTracking[]</a:t>
                      </a:r>
                    </a:p>
                  </a:txBody>
                  <a:tcPr marT="38100" marB="38100" anchor="ctr">
                    <a:solidFill>
                      <a:srgbClr val="E8F5E9"/>
                    </a:solidFill>
                  </a:tcPr>
                </a:tc>
                <a:tc>
                  <a:txBody>
                    <a:bodyPr/>
                    <a:lstStyle/>
                    <a:p>
                      <a:r>
                        <a:rPr sz="1300">
                          <a:solidFill>
                            <a:srgbClr val="212121"/>
                          </a:solidFill>
                        </a:rPr>
                        <a:t>Embedding (vigilance)</a:t>
                      </a:r>
                    </a:p>
                  </a:txBody>
                  <a:tcPr marT="38100" marB="38100" anchor="ctr">
                    <a:solidFill>
                      <a:srgbClr val="E8F5E9"/>
                    </a:solidFill>
                  </a:tcPr>
                </a:tc>
                <a:tc>
                  <a:txBody>
                    <a:bodyPr/>
                    <a:lstStyle/>
                    <a:p>
                      <a:r>
                        <a:rPr sz="1300">
                          <a:solidFill>
                            <a:srgbClr val="212121"/>
                          </a:solidFill>
                        </a:rPr>
                        <a:t>Time-series local, croissance à surveiller</a:t>
                      </a:r>
                    </a:p>
                  </a:txBody>
                  <a:tcPr marT="38100" marB="38100" anchor="ctr">
                    <a:solidFill>
                      <a:srgbClr val="E8F5E9"/>
                    </a:solidFill>
                  </a:tcPr>
                </a:tc>
                <a:extLst>
                  <a:ext uri="{0D108BD9-81ED-4DB2-BD59-A6C34878D82A}">
                    <a16:rowId xmlns:a16="http://schemas.microsoft.com/office/drawing/2014/main" val="10005"/>
                  </a:ext>
                </a:extLst>
              </a:tr>
              <a:tr h="617220">
                <a:tc>
                  <a:txBody>
                    <a:bodyPr/>
                    <a:lstStyle/>
                    <a:p>
                      <a:r>
                        <a:rPr sz="1300">
                          <a:solidFill>
                            <a:srgbClr val="212121"/>
                          </a:solidFill>
                        </a:rPr>
                        <a:t>customer_id / restaurant_id / deliverer_id</a:t>
                      </a:r>
                    </a:p>
                  </a:txBody>
                  <a:tcPr marT="38100" marB="38100" anchor="ctr">
                    <a:solidFill>
                      <a:srgbClr val="FFFFFF"/>
                    </a:solidFill>
                  </a:tcPr>
                </a:tc>
                <a:tc>
                  <a:txBody>
                    <a:bodyPr/>
                    <a:lstStyle/>
                    <a:p>
                      <a:r>
                        <a:rPr sz="1300">
                          <a:solidFill>
                            <a:srgbClr val="212121"/>
                          </a:solidFill>
                        </a:rPr>
                        <a:t>Referencing</a:t>
                      </a:r>
                    </a:p>
                  </a:txBody>
                  <a:tcPr marT="38100" marB="38100" anchor="ctr">
                    <a:solidFill>
                      <a:srgbClr val="FFFFFF"/>
                    </a:solidFill>
                  </a:tcPr>
                </a:tc>
                <a:tc>
                  <a:txBody>
                    <a:bodyPr/>
                    <a:lstStyle/>
                    <a:p>
                      <a:r>
                        <a:rPr sz="1300">
                          <a:solidFill>
                            <a:srgbClr val="212121"/>
                          </a:solidFill>
                        </a:rPr>
                        <a:t>Cardinalité illimitée, cycle de vie propre</a:t>
                      </a:r>
                    </a:p>
                  </a:txBody>
                  <a:tcPr marT="38100" marB="38100" anchor="ctr">
                    <a:solidFill>
                      <a:srgbClr val="FFFFFF"/>
                    </a:solidFill>
                  </a:tcPr>
                </a:tc>
                <a:extLst>
                  <a:ext uri="{0D108BD9-81ED-4DB2-BD59-A6C34878D82A}">
                    <a16:rowId xmlns:a16="http://schemas.microsoft.com/office/drawing/2014/main" val="10006"/>
                  </a:ext>
                </a:extLst>
              </a:tr>
              <a:tr h="617220">
                <a:tc>
                  <a:txBody>
                    <a:bodyPr/>
                    <a:lstStyle/>
                    <a:p>
                      <a:r>
                        <a:rPr sz="1300">
                          <a:solidFill>
                            <a:srgbClr val="212121"/>
                          </a:solidFill>
                        </a:rPr>
                        <a:t>owner_id (restaurant)</a:t>
                      </a:r>
                    </a:p>
                  </a:txBody>
                  <a:tcPr marT="38100" marB="38100" anchor="ctr">
                    <a:solidFill>
                      <a:srgbClr val="E8F5E9"/>
                    </a:solidFill>
                  </a:tcPr>
                </a:tc>
                <a:tc>
                  <a:txBody>
                    <a:bodyPr/>
                    <a:lstStyle/>
                    <a:p>
                      <a:r>
                        <a:rPr sz="1300">
                          <a:solidFill>
                            <a:srgbClr val="212121"/>
                          </a:solidFill>
                        </a:rPr>
                        <a:t>Referencing</a:t>
                      </a:r>
                    </a:p>
                  </a:txBody>
                  <a:tcPr marT="38100" marB="38100" anchor="ctr">
                    <a:solidFill>
                      <a:srgbClr val="E8F5E9"/>
                    </a:solidFill>
                  </a:tcPr>
                </a:tc>
                <a:tc>
                  <a:txBody>
                    <a:bodyPr/>
                    <a:lstStyle/>
                    <a:p>
                      <a:r>
                        <a:rPr sz="1300">
                          <a:solidFill>
                            <a:srgbClr val="212121"/>
                          </a:solidFill>
                        </a:rPr>
                        <a:t>Un propriétaire peut posséder plusieurs restaurants</a:t>
                      </a:r>
                    </a:p>
                  </a:txBody>
                  <a:tcPr marT="38100" marB="38100" anchor="ctr">
                    <a:solidFill>
                      <a:srgbClr val="E8F5E9"/>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8" name="TextBox 7"/>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4. IMPLÉMENTATION</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CRUD &amp; machine à états des commandes</a:t>
            </a:r>
          </a:p>
        </p:txBody>
      </p:sp>
      <p:sp>
        <p:nvSpPr>
          <p:cNvPr id="6" name="TextBox 5"/>
          <p:cNvSpPr txBox="1"/>
          <p:nvPr/>
        </p:nvSpPr>
        <p:spPr>
          <a:xfrm>
            <a:off x="502920" y="1325880"/>
            <a:ext cx="5486400" cy="411480"/>
          </a:xfrm>
          <a:prstGeom prst="rect">
            <a:avLst/>
          </a:prstGeom>
          <a:noFill/>
        </p:spPr>
        <p:txBody>
          <a:bodyPr wrap="square" anchor="t">
            <a:spAutoFit/>
          </a:bodyPr>
          <a:lstStyle/>
          <a:p>
            <a:pPr algn="l">
              <a:lnSpc>
                <a:spcPct val="100000"/>
              </a:lnSpc>
            </a:pPr>
            <a:r>
              <a:rPr sz="1800" b="1" i="0">
                <a:solidFill>
                  <a:srgbClr val="1B5E20"/>
                </a:solidFill>
                <a:latin typeface="Calibri"/>
              </a:rPr>
              <a:t>Opérations CRUD (scripts/01-crud.js)</a:t>
            </a:r>
          </a:p>
        </p:txBody>
      </p:sp>
      <p:sp>
        <p:nvSpPr>
          <p:cNvPr id="7" name="TextBox 6"/>
          <p:cNvSpPr txBox="1"/>
          <p:nvPr/>
        </p:nvSpPr>
        <p:spPr>
          <a:xfrm>
            <a:off x="502920" y="1828800"/>
            <a:ext cx="5486400" cy="2377440"/>
          </a:xfrm>
          <a:prstGeom prst="rect">
            <a:avLst/>
          </a:prstGeom>
          <a:noFill/>
        </p:spPr>
        <p:txBody>
          <a:bodyPr wrap="square">
            <a:spAutoFit/>
          </a:bodyPr>
          <a:lstStyle/>
          <a:p>
            <a:pPr>
              <a:lnSpc>
                <a:spcPct val="105000"/>
              </a:lnSpc>
              <a:spcAft>
                <a:spcPts val="1000"/>
              </a:spcAft>
            </a:pPr>
            <a:r>
              <a:rPr sz="1400">
                <a:solidFill>
                  <a:srgbClr val="212121"/>
                </a:solidFill>
                <a:latin typeface="Calibri"/>
              </a:rPr>
              <a:t>●  insertOne / insertMany — création restaurant, clients</a:t>
            </a:r>
          </a:p>
          <a:p>
            <a:pPr>
              <a:lnSpc>
                <a:spcPct val="105000"/>
              </a:lnSpc>
              <a:spcAft>
                <a:spcPts val="1000"/>
              </a:spcAft>
            </a:pPr>
            <a:r>
              <a:rPr sz="1400">
                <a:solidFill>
                  <a:srgbClr val="212121"/>
                </a:solidFill>
                <a:latin typeface="Calibri"/>
              </a:rPr>
              <a:t>●  find (filtre + projection), updateOne/updateMany ($set)</a:t>
            </a:r>
          </a:p>
          <a:p>
            <a:pPr>
              <a:lnSpc>
                <a:spcPct val="105000"/>
              </a:lnSpc>
              <a:spcAft>
                <a:spcPts val="1000"/>
              </a:spcAft>
            </a:pPr>
            <a:r>
              <a:rPr sz="1400">
                <a:solidFill>
                  <a:srgbClr val="212121"/>
                </a:solidFill>
                <a:latin typeface="Calibri"/>
              </a:rPr>
              <a:t>●  $inc, $push, $pull — compteurs, historique, favoris</a:t>
            </a:r>
          </a:p>
          <a:p>
            <a:pPr>
              <a:lnSpc>
                <a:spcPct val="105000"/>
              </a:lnSpc>
              <a:spcAft>
                <a:spcPts val="1000"/>
              </a:spcAft>
            </a:pPr>
            <a:r>
              <a:rPr sz="1400">
                <a:solidFill>
                  <a:srgbClr val="212121"/>
                </a:solidFill>
                <a:latin typeface="Calibri"/>
              </a:rPr>
              <a:t>●  deleteOne / deleteMany — purge des données de démo</a:t>
            </a:r>
          </a:p>
        </p:txBody>
      </p:sp>
      <p:sp>
        <p:nvSpPr>
          <p:cNvPr id="8" name="TextBox 7"/>
          <p:cNvSpPr txBox="1"/>
          <p:nvPr/>
        </p:nvSpPr>
        <p:spPr>
          <a:xfrm>
            <a:off x="6309360" y="1325880"/>
            <a:ext cx="5394960" cy="411480"/>
          </a:xfrm>
          <a:prstGeom prst="rect">
            <a:avLst/>
          </a:prstGeom>
          <a:noFill/>
        </p:spPr>
        <p:txBody>
          <a:bodyPr wrap="square" anchor="t">
            <a:spAutoFit/>
          </a:bodyPr>
          <a:lstStyle/>
          <a:p>
            <a:pPr algn="l">
              <a:lnSpc>
                <a:spcPct val="100000"/>
              </a:lnSpc>
            </a:pPr>
            <a:r>
              <a:rPr sz="1800" b="1" i="0">
                <a:solidFill>
                  <a:srgbClr val="1B5E20"/>
                </a:solidFill>
                <a:latin typeface="Calibri"/>
              </a:rPr>
              <a:t>Machine à états (8 statuts)</a:t>
            </a:r>
          </a:p>
        </p:txBody>
      </p:sp>
      <p:sp>
        <p:nvSpPr>
          <p:cNvPr id="9" name="Rectangle 8"/>
          <p:cNvSpPr/>
          <p:nvPr/>
        </p:nvSpPr>
        <p:spPr>
          <a:xfrm>
            <a:off x="6309360" y="1828800"/>
            <a:ext cx="5394960" cy="246888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965960"/>
            <a:ext cx="5029200" cy="2194560"/>
          </a:xfrm>
          <a:prstGeom prst="rect">
            <a:avLst/>
          </a:prstGeom>
          <a:noFill/>
        </p:spPr>
        <p:txBody>
          <a:bodyPr wrap="square" anchor="t">
            <a:spAutoFit/>
          </a:bodyPr>
          <a:lstStyle/>
          <a:p>
            <a:pPr algn="l">
              <a:lnSpc>
                <a:spcPct val="120000"/>
              </a:lnSpc>
            </a:pPr>
            <a:r>
              <a:rPr sz="1400" b="0" i="0">
                <a:solidFill>
                  <a:srgbClr val="212121"/>
                </a:solidFill>
                <a:latin typeface="Consolas"/>
              </a:rPr>
              <a:t>PENDING → CONFIRMED → PREPARING →</a:t>
            </a:r>
          </a:p>
          <a:p>
            <a:pPr algn="l">
              <a:lnSpc>
                <a:spcPct val="120000"/>
              </a:lnSpc>
            </a:pPr>
            <a:r>
              <a:rPr sz="1400" b="0" i="0">
                <a:solidFill>
                  <a:srgbClr val="212121"/>
                </a:solidFill>
                <a:latin typeface="Consolas"/>
              </a:rPr>
              <a:t>READY_FOR_DELIVERY → DELIVERY_IN_PROGRESS → DELIVERED</a:t>
            </a:r>
          </a:p>
          <a:p>
            <a:pPr algn="l">
              <a:lnSpc>
                <a:spcPct val="120000"/>
              </a:lnSpc>
            </a:pPr>
            <a:r>
              <a:rPr sz="1400" b="0" i="0">
                <a:solidFill>
                  <a:srgbClr val="212121"/>
                </a:solidFill>
                <a:latin typeface="Consolas"/>
              </a:rPr>
              <a:t>(+ CANCELLED, FAILED)</a:t>
            </a:r>
          </a:p>
          <a:p>
            <a:pPr algn="l">
              <a:lnSpc>
                <a:spcPct val="120000"/>
              </a:lnSpc>
            </a:pPr>
            <a:endParaRPr sz="1400" b="0" i="0">
              <a:solidFill>
                <a:srgbClr val="212121"/>
              </a:solidFill>
              <a:latin typeface="Consolas"/>
            </a:endParaRPr>
          </a:p>
          <a:p>
            <a:pPr algn="l">
              <a:lnSpc>
                <a:spcPct val="120000"/>
              </a:lnSpc>
            </a:pPr>
            <a:r>
              <a:rPr sz="1400" b="0" i="0">
                <a:solidFill>
                  <a:srgbClr val="212121"/>
                </a:solidFill>
                <a:latin typeface="Consolas"/>
              </a:rPr>
              <a:t>Chaque transition passe par isValidTransition() : champ status mis à jour + entrée ajoutée à statusHistory[] avec horodatage.</a:t>
            </a:r>
          </a:p>
        </p:txBody>
      </p:sp>
      <p:sp>
        <p:nvSpPr>
          <p:cNvPr id="11" name="TextBox 10"/>
          <p:cNvSpPr txBox="1"/>
          <p:nvPr/>
        </p:nvSpPr>
        <p:spPr>
          <a:xfrm>
            <a:off x="502920" y="4480560"/>
            <a:ext cx="11155680" cy="1737360"/>
          </a:xfrm>
          <a:prstGeom prst="rect">
            <a:avLst/>
          </a:prstGeom>
          <a:noFill/>
        </p:spPr>
        <p:txBody>
          <a:bodyPr wrap="square" anchor="t">
            <a:spAutoFit/>
          </a:bodyPr>
          <a:lstStyle/>
          <a:p>
            <a:pPr algn="l">
              <a:lnSpc>
                <a:spcPct val="120000"/>
              </a:lnSpc>
            </a:pPr>
            <a:r>
              <a:rPr sz="1500" b="0" i="0">
                <a:solidFill>
                  <a:srgbClr val="212121"/>
                </a:solidFill>
                <a:latin typeface="Calibri"/>
              </a:rPr>
              <a:t>Gestion des ruptures de stock : deux champs par plat embarqué — isAvailable (bascule manuelle) et quantity (décrémenté à chaque commande). Mise à jour atomique conditionnelle (quantity: {$gt: 0} + $inc: {quantity: -1}) pour éviter la double réservation de stock.</a:t>
            </a:r>
          </a:p>
        </p:txBody>
      </p:sp>
      <p:sp>
        <p:nvSpPr>
          <p:cNvPr id="12" name="TextBox 11"/>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13" name="TextBox 12"/>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4. IMPLÉMENTATION</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Complémentarité MongoDB / Redis</a:t>
            </a:r>
          </a:p>
        </p:txBody>
      </p:sp>
      <p:graphicFrame>
        <p:nvGraphicFramePr>
          <p:cNvPr id="6" name="Table 5"/>
          <p:cNvGraphicFramePr>
            <a:graphicFrameLocks noGrp="1"/>
          </p:cNvGraphicFramePr>
          <p:nvPr/>
        </p:nvGraphicFramePr>
        <p:xfrm>
          <a:off x="502920" y="1325880"/>
          <a:ext cx="11155679" cy="2743200"/>
        </p:xfrm>
        <a:graphic>
          <a:graphicData uri="http://schemas.openxmlformats.org/drawingml/2006/table">
            <a:tbl>
              <a:tblPr firstRow="1" bandRow="1">
                <a:tableStyleId>{5C22544A-7EE6-4342-B048-85BDC9FD1C3A}</a:tableStyleId>
              </a:tblPr>
              <a:tblGrid>
                <a:gridCol w="3585754">
                  <a:extLst>
                    <a:ext uri="{9D8B030D-6E8A-4147-A177-3AD203B41FA5}">
                      <a16:colId xmlns:a16="http://schemas.microsoft.com/office/drawing/2014/main" val="20000"/>
                    </a:ext>
                  </a:extLst>
                </a:gridCol>
                <a:gridCol w="4980214">
                  <a:extLst>
                    <a:ext uri="{9D8B030D-6E8A-4147-A177-3AD203B41FA5}">
                      <a16:colId xmlns:a16="http://schemas.microsoft.com/office/drawing/2014/main" val="20001"/>
                    </a:ext>
                  </a:extLst>
                </a:gridCol>
                <a:gridCol w="2589711">
                  <a:extLst>
                    <a:ext uri="{9D8B030D-6E8A-4147-A177-3AD203B41FA5}">
                      <a16:colId xmlns:a16="http://schemas.microsoft.com/office/drawing/2014/main" val="20002"/>
                    </a:ext>
                  </a:extLst>
                </a:gridCol>
              </a:tblGrid>
              <a:tr h="457200">
                <a:tc>
                  <a:txBody>
                    <a:bodyPr/>
                    <a:lstStyle/>
                    <a:p>
                      <a:pPr algn="l"/>
                      <a:r>
                        <a:rPr sz="1400" b="1">
                          <a:solidFill>
                            <a:srgbClr val="FFFFFF"/>
                          </a:solidFill>
                        </a:rPr>
                        <a:t>Donnée</a:t>
                      </a:r>
                    </a:p>
                  </a:txBody>
                  <a:tcPr marT="50800" marB="50800" anchor="ctr">
                    <a:solidFill>
                      <a:srgbClr val="2E7D32"/>
                    </a:solidFill>
                  </a:tcPr>
                </a:tc>
                <a:tc>
                  <a:txBody>
                    <a:bodyPr/>
                    <a:lstStyle/>
                    <a:p>
                      <a:pPr algn="l"/>
                      <a:r>
                        <a:rPr sz="1400" b="1">
                          <a:solidFill>
                            <a:srgbClr val="FFFFFF"/>
                          </a:solidFill>
                        </a:rPr>
                        <a:t>Structure Redis</a:t>
                      </a:r>
                    </a:p>
                  </a:txBody>
                  <a:tcPr marT="50800" marB="50800" anchor="ctr">
                    <a:solidFill>
                      <a:srgbClr val="2E7D32"/>
                    </a:solidFill>
                  </a:tcPr>
                </a:tc>
                <a:tc>
                  <a:txBody>
                    <a:bodyPr/>
                    <a:lstStyle/>
                    <a:p>
                      <a:pPr algn="l"/>
                      <a:r>
                        <a:rPr sz="1400" b="1">
                          <a:solidFill>
                            <a:srgbClr val="FFFFFF"/>
                          </a:solidFill>
                        </a:rPr>
                        <a:t>TTL</a:t>
                      </a:r>
                    </a:p>
                  </a:txBody>
                  <a:tcPr marT="50800" marB="50800" anchor="ctr">
                    <a:solidFill>
                      <a:srgbClr val="2E7D32"/>
                    </a:solidFill>
                  </a:tcPr>
                </a:tc>
                <a:extLst>
                  <a:ext uri="{0D108BD9-81ED-4DB2-BD59-A6C34878D82A}">
                    <a16:rowId xmlns:a16="http://schemas.microsoft.com/office/drawing/2014/main" val="10000"/>
                  </a:ext>
                </a:extLst>
              </a:tr>
              <a:tr h="457200">
                <a:tc>
                  <a:txBody>
                    <a:bodyPr/>
                    <a:lstStyle/>
                    <a:p>
                      <a:r>
                        <a:rPr sz="1400">
                          <a:solidFill>
                            <a:srgbClr val="212121"/>
                          </a:solidFill>
                        </a:rPr>
                        <a:t>Panier en cours</a:t>
                      </a:r>
                    </a:p>
                  </a:txBody>
                  <a:tcPr marT="38100" marB="38100" anchor="ctr">
                    <a:solidFill>
                      <a:srgbClr val="E8F5E9"/>
                    </a:solidFill>
                  </a:tcPr>
                </a:tc>
                <a:tc>
                  <a:txBody>
                    <a:bodyPr/>
                    <a:lstStyle/>
                    <a:p>
                      <a:r>
                        <a:rPr sz="1400">
                          <a:solidFill>
                            <a:srgbClr val="212121"/>
                          </a:solidFill>
                        </a:rPr>
                        <a:t>Hash cart:{userId}</a:t>
                      </a:r>
                    </a:p>
                  </a:txBody>
                  <a:tcPr marT="38100" marB="38100" anchor="ctr">
                    <a:solidFill>
                      <a:srgbClr val="E8F5E9"/>
                    </a:solidFill>
                  </a:tcPr>
                </a:tc>
                <a:tc>
                  <a:txBody>
                    <a:bodyPr/>
                    <a:lstStyle/>
                    <a:p>
                      <a:r>
                        <a:rPr sz="1400">
                          <a:solidFill>
                            <a:srgbClr val="212121"/>
                          </a:solidFill>
                        </a:rPr>
                        <a:t>24 h</a:t>
                      </a:r>
                    </a:p>
                  </a:txBody>
                  <a:tcPr marT="38100" marB="38100" anchor="ctr">
                    <a:solidFill>
                      <a:srgbClr val="E8F5E9"/>
                    </a:solidFill>
                  </a:tcPr>
                </a:tc>
                <a:extLst>
                  <a:ext uri="{0D108BD9-81ED-4DB2-BD59-A6C34878D82A}">
                    <a16:rowId xmlns:a16="http://schemas.microsoft.com/office/drawing/2014/main" val="10001"/>
                  </a:ext>
                </a:extLst>
              </a:tr>
              <a:tr h="457200">
                <a:tc>
                  <a:txBody>
                    <a:bodyPr/>
                    <a:lstStyle/>
                    <a:p>
                      <a:r>
                        <a:rPr sz="1400">
                          <a:solidFill>
                            <a:srgbClr val="212121"/>
                          </a:solidFill>
                        </a:rPr>
                        <a:t>Statut de livraison « live »</a:t>
                      </a:r>
                    </a:p>
                  </a:txBody>
                  <a:tcPr marT="38100" marB="38100" anchor="ctr">
                    <a:solidFill>
                      <a:srgbClr val="FFFFFF"/>
                    </a:solidFill>
                  </a:tcPr>
                </a:tc>
                <a:tc>
                  <a:txBody>
                    <a:bodyPr/>
                    <a:lstStyle/>
                    <a:p>
                      <a:r>
                        <a:rPr sz="1400">
                          <a:solidFill>
                            <a:srgbClr val="212121"/>
                          </a:solidFill>
                        </a:rPr>
                        <a:t>Hash order:{orderId}:status</a:t>
                      </a:r>
                    </a:p>
                  </a:txBody>
                  <a:tcPr marT="38100" marB="38100" anchor="ctr">
                    <a:solidFill>
                      <a:srgbClr val="FFFFFF"/>
                    </a:solidFill>
                  </a:tcPr>
                </a:tc>
                <a:tc>
                  <a:txBody>
                    <a:bodyPr/>
                    <a:lstStyle/>
                    <a:p>
                      <a:r>
                        <a:rPr sz="1400">
                          <a:solidFill>
                            <a:srgbClr val="212121"/>
                          </a:solidFill>
                        </a:rPr>
                        <a:t>2 h</a:t>
                      </a:r>
                    </a:p>
                  </a:txBody>
                  <a:tcPr marT="38100" marB="38100" anchor="ctr">
                    <a:solidFill>
                      <a:srgbClr val="FFFFFF"/>
                    </a:solidFill>
                  </a:tcPr>
                </a:tc>
                <a:extLst>
                  <a:ext uri="{0D108BD9-81ED-4DB2-BD59-A6C34878D82A}">
                    <a16:rowId xmlns:a16="http://schemas.microsoft.com/office/drawing/2014/main" val="10002"/>
                  </a:ext>
                </a:extLst>
              </a:tr>
              <a:tr h="457200">
                <a:tc>
                  <a:txBody>
                    <a:bodyPr/>
                    <a:lstStyle/>
                    <a:p>
                      <a:r>
                        <a:rPr sz="1400">
                          <a:solidFill>
                            <a:srgbClr val="212121"/>
                          </a:solidFill>
                        </a:rPr>
                        <a:t>Positions GPS du livreur</a:t>
                      </a:r>
                    </a:p>
                  </a:txBody>
                  <a:tcPr marT="38100" marB="38100" anchor="ctr">
                    <a:solidFill>
                      <a:srgbClr val="E8F5E9"/>
                    </a:solidFill>
                  </a:tcPr>
                </a:tc>
                <a:tc>
                  <a:txBody>
                    <a:bodyPr/>
                    <a:lstStyle/>
                    <a:p>
                      <a:r>
                        <a:rPr sz="1400">
                          <a:solidFill>
                            <a:srgbClr val="212121"/>
                          </a:solidFill>
                        </a:rPr>
                        <a:t>Redis Stream (XTRIM ~500)</a:t>
                      </a:r>
                    </a:p>
                  </a:txBody>
                  <a:tcPr marT="38100" marB="38100" anchor="ctr">
                    <a:solidFill>
                      <a:srgbClr val="E8F5E9"/>
                    </a:solidFill>
                  </a:tcPr>
                </a:tc>
                <a:tc>
                  <a:txBody>
                    <a:bodyPr/>
                    <a:lstStyle/>
                    <a:p>
                      <a:r>
                        <a:rPr sz="1400">
                          <a:solidFill>
                            <a:srgbClr val="212121"/>
                          </a:solidFill>
                        </a:rPr>
                        <a:t>Fenêtre glissante</a:t>
                      </a:r>
                    </a:p>
                  </a:txBody>
                  <a:tcPr marT="38100" marB="38100" anchor="ctr">
                    <a:solidFill>
                      <a:srgbClr val="E8F5E9"/>
                    </a:solidFill>
                  </a:tcPr>
                </a:tc>
                <a:extLst>
                  <a:ext uri="{0D108BD9-81ED-4DB2-BD59-A6C34878D82A}">
                    <a16:rowId xmlns:a16="http://schemas.microsoft.com/office/drawing/2014/main" val="10003"/>
                  </a:ext>
                </a:extLst>
              </a:tr>
              <a:tr h="457200">
                <a:tc>
                  <a:txBody>
                    <a:bodyPr/>
                    <a:lstStyle/>
                    <a:p>
                      <a:r>
                        <a:rPr sz="1400">
                          <a:solidFill>
                            <a:srgbClr val="212121"/>
                          </a:solidFill>
                        </a:rPr>
                        <a:t>Favoris</a:t>
                      </a:r>
                    </a:p>
                  </a:txBody>
                  <a:tcPr marT="38100" marB="38100" anchor="ctr">
                    <a:solidFill>
                      <a:srgbClr val="FFFFFF"/>
                    </a:solidFill>
                  </a:tcPr>
                </a:tc>
                <a:tc>
                  <a:txBody>
                    <a:bodyPr/>
                    <a:lstStyle/>
                    <a:p>
                      <a:r>
                        <a:rPr sz="1400">
                          <a:solidFill>
                            <a:srgbClr val="212121"/>
                          </a:solidFill>
                        </a:rPr>
                        <a:t>Set favorites:{userId}</a:t>
                      </a:r>
                    </a:p>
                  </a:txBody>
                  <a:tcPr marT="38100" marB="38100" anchor="ctr">
                    <a:solidFill>
                      <a:srgbClr val="FFFFFF"/>
                    </a:solidFill>
                  </a:tcPr>
                </a:tc>
                <a:tc>
                  <a:txBody>
                    <a:bodyPr/>
                    <a:lstStyle/>
                    <a:p>
                      <a:r>
                        <a:rPr sz="1400">
                          <a:solidFill>
                            <a:srgbClr val="212121"/>
                          </a:solidFill>
                        </a:rPr>
                        <a:t>7 jours</a:t>
                      </a:r>
                    </a:p>
                  </a:txBody>
                  <a:tcPr marT="38100" marB="38100" anchor="ctr">
                    <a:solidFill>
                      <a:srgbClr val="FFFFFF"/>
                    </a:solidFill>
                  </a:tcPr>
                </a:tc>
                <a:extLst>
                  <a:ext uri="{0D108BD9-81ED-4DB2-BD59-A6C34878D82A}">
                    <a16:rowId xmlns:a16="http://schemas.microsoft.com/office/drawing/2014/main" val="10004"/>
                  </a:ext>
                </a:extLst>
              </a:tr>
              <a:tr h="457200">
                <a:tc>
                  <a:txBody>
                    <a:bodyPr/>
                    <a:lstStyle/>
                    <a:p>
                      <a:r>
                        <a:rPr sz="1400">
                          <a:solidFill>
                            <a:srgbClr val="212121"/>
                          </a:solidFill>
                        </a:rPr>
                        <a:t>Disponibilité d'un plat</a:t>
                      </a:r>
                    </a:p>
                  </a:txBody>
                  <a:tcPr marT="38100" marB="38100" anchor="ctr">
                    <a:solidFill>
                      <a:srgbClr val="E8F5E9"/>
                    </a:solidFill>
                  </a:tcPr>
                </a:tc>
                <a:tc>
                  <a:txBody>
                    <a:bodyPr/>
                    <a:lstStyle/>
                    <a:p>
                      <a:r>
                        <a:rPr sz="1400">
                          <a:solidFill>
                            <a:srgbClr val="212121"/>
                          </a:solidFill>
                        </a:rPr>
                        <a:t>Hash dish:available:{id}:{id}</a:t>
                      </a:r>
                    </a:p>
                  </a:txBody>
                  <a:tcPr marT="38100" marB="38100" anchor="ctr">
                    <a:solidFill>
                      <a:srgbClr val="E8F5E9"/>
                    </a:solidFill>
                  </a:tcPr>
                </a:tc>
                <a:tc>
                  <a:txBody>
                    <a:bodyPr/>
                    <a:lstStyle/>
                    <a:p>
                      <a:r>
                        <a:rPr sz="1400">
                          <a:solidFill>
                            <a:srgbClr val="212121"/>
                          </a:solidFill>
                        </a:rPr>
                        <a:t>5 min</a:t>
                      </a:r>
                    </a:p>
                  </a:txBody>
                  <a:tcPr marT="38100" marB="38100" anchor="ctr">
                    <a:solidFill>
                      <a:srgbClr val="E8F5E9"/>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02920" y="4297680"/>
            <a:ext cx="11155680" cy="1737360"/>
          </a:xfrm>
          <a:prstGeom prst="rect">
            <a:avLst/>
          </a:prstGeom>
          <a:noFill/>
        </p:spPr>
        <p:txBody>
          <a:bodyPr wrap="square" anchor="t">
            <a:spAutoFit/>
          </a:bodyPr>
          <a:lstStyle/>
          <a:p>
            <a:pPr algn="l">
              <a:lnSpc>
                <a:spcPct val="125000"/>
              </a:lnSpc>
            </a:pPr>
            <a:r>
              <a:rPr sz="1600" b="0" i="0">
                <a:solidFill>
                  <a:srgbClr val="212121"/>
                </a:solidFill>
                <a:latin typeface="Calibri"/>
              </a:rPr>
              <a:t>Stratégie cache-aside avec repli (fallback) sur MongoDB : si Redis est indisponible, l'application continue de fonctionner en lisant directement MongoDB (latence dégradée, service non interrompu) — réponse directe à la contrainte de connectivité mobile variable.</a:t>
            </a:r>
          </a:p>
        </p:txBody>
      </p:sp>
      <p:sp>
        <p:nvSpPr>
          <p:cNvPr id="8" name="TextBox 7"/>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9" name="TextBox 8"/>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5. REQUÊTES ET AGRÉGATIONS</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Opérateurs avancés &amp; pipelines</a:t>
            </a:r>
          </a:p>
        </p:txBody>
      </p:sp>
      <p:sp>
        <p:nvSpPr>
          <p:cNvPr id="6" name="TextBox 5"/>
          <p:cNvSpPr txBox="1"/>
          <p:nvPr/>
        </p:nvSpPr>
        <p:spPr>
          <a:xfrm>
            <a:off x="502920" y="1325880"/>
            <a:ext cx="5394960" cy="365760"/>
          </a:xfrm>
          <a:prstGeom prst="rect">
            <a:avLst/>
          </a:prstGeom>
          <a:noFill/>
        </p:spPr>
        <p:txBody>
          <a:bodyPr wrap="square" anchor="t">
            <a:spAutoFit/>
          </a:bodyPr>
          <a:lstStyle/>
          <a:p>
            <a:pPr algn="l">
              <a:lnSpc>
                <a:spcPct val="100000"/>
              </a:lnSpc>
            </a:pPr>
            <a:r>
              <a:rPr sz="1800" b="1" i="0">
                <a:solidFill>
                  <a:srgbClr val="1B5E20"/>
                </a:solidFill>
                <a:latin typeface="Calibri"/>
              </a:rPr>
              <a:t>Requêtes avancées (02-requetes.js)</a:t>
            </a:r>
          </a:p>
        </p:txBody>
      </p:sp>
      <p:sp>
        <p:nvSpPr>
          <p:cNvPr id="7" name="TextBox 6"/>
          <p:cNvSpPr txBox="1"/>
          <p:nvPr/>
        </p:nvSpPr>
        <p:spPr>
          <a:xfrm>
            <a:off x="502920" y="1828800"/>
            <a:ext cx="5394960" cy="2194560"/>
          </a:xfrm>
          <a:prstGeom prst="rect">
            <a:avLst/>
          </a:prstGeom>
          <a:noFill/>
        </p:spPr>
        <p:txBody>
          <a:bodyPr wrap="square">
            <a:spAutoFit/>
          </a:bodyPr>
          <a:lstStyle/>
          <a:p>
            <a:pPr>
              <a:lnSpc>
                <a:spcPct val="105000"/>
              </a:lnSpc>
              <a:spcAft>
                <a:spcPts val="1000"/>
              </a:spcAft>
            </a:pPr>
            <a:r>
              <a:rPr sz="1500">
                <a:solidFill>
                  <a:srgbClr val="212121"/>
                </a:solidFill>
                <a:latin typeface="Calibri"/>
              </a:rPr>
              <a:t>●  Comparaison : $gt, $lt</a:t>
            </a:r>
          </a:p>
          <a:p>
            <a:pPr>
              <a:lnSpc>
                <a:spcPct val="105000"/>
              </a:lnSpc>
              <a:spcAft>
                <a:spcPts val="1000"/>
              </a:spcAft>
            </a:pPr>
            <a:r>
              <a:rPr sz="1500">
                <a:solidFill>
                  <a:srgbClr val="212121"/>
                </a:solidFill>
                <a:latin typeface="Calibri"/>
              </a:rPr>
              <a:t>●  Ensembles : $in</a:t>
            </a:r>
          </a:p>
          <a:p>
            <a:pPr>
              <a:lnSpc>
                <a:spcPct val="105000"/>
              </a:lnSpc>
              <a:spcAft>
                <a:spcPts val="1000"/>
              </a:spcAft>
            </a:pPr>
            <a:r>
              <a:rPr sz="1500">
                <a:solidFill>
                  <a:srgbClr val="212121"/>
                </a:solidFill>
                <a:latin typeface="Calibri"/>
              </a:rPr>
              <a:t>●  Regex : recherche insensible à la casse</a:t>
            </a:r>
          </a:p>
          <a:p>
            <a:pPr>
              <a:lnSpc>
                <a:spcPct val="105000"/>
              </a:lnSpc>
              <a:spcAft>
                <a:spcPts val="1000"/>
              </a:spcAft>
            </a:pPr>
            <a:r>
              <a:rPr sz="1500">
                <a:solidFill>
                  <a:srgbClr val="212121"/>
                </a:solidFill>
                <a:latin typeface="Calibri"/>
              </a:rPr>
              <a:t>●  Tri, pagination (skip/limit), countDocuments</a:t>
            </a:r>
          </a:p>
        </p:txBody>
      </p:sp>
      <p:sp>
        <p:nvSpPr>
          <p:cNvPr id="8" name="TextBox 7"/>
          <p:cNvSpPr txBox="1"/>
          <p:nvPr/>
        </p:nvSpPr>
        <p:spPr>
          <a:xfrm>
            <a:off x="6309360" y="1325880"/>
            <a:ext cx="5394960" cy="365760"/>
          </a:xfrm>
          <a:prstGeom prst="rect">
            <a:avLst/>
          </a:prstGeom>
          <a:noFill/>
        </p:spPr>
        <p:txBody>
          <a:bodyPr wrap="square" anchor="t">
            <a:spAutoFit/>
          </a:bodyPr>
          <a:lstStyle/>
          <a:p>
            <a:pPr algn="l">
              <a:lnSpc>
                <a:spcPct val="100000"/>
              </a:lnSpc>
            </a:pPr>
            <a:r>
              <a:rPr sz="1800" b="1" i="0">
                <a:solidFill>
                  <a:srgbClr val="1B5E20"/>
                </a:solidFill>
                <a:latin typeface="Calibri"/>
              </a:rPr>
              <a:t>Pipelines d'agrégation (03-agregations.js)</a:t>
            </a:r>
          </a:p>
        </p:txBody>
      </p:sp>
      <p:sp>
        <p:nvSpPr>
          <p:cNvPr id="9" name="TextBox 8"/>
          <p:cNvSpPr txBox="1"/>
          <p:nvPr/>
        </p:nvSpPr>
        <p:spPr>
          <a:xfrm>
            <a:off x="6309360" y="1828800"/>
            <a:ext cx="5394960" cy="2194560"/>
          </a:xfrm>
          <a:prstGeom prst="rect">
            <a:avLst/>
          </a:prstGeom>
          <a:noFill/>
        </p:spPr>
        <p:txBody>
          <a:bodyPr wrap="square">
            <a:spAutoFit/>
          </a:bodyPr>
          <a:lstStyle/>
          <a:p>
            <a:pPr>
              <a:lnSpc>
                <a:spcPct val="105000"/>
              </a:lnSpc>
              <a:spcAft>
                <a:spcPts val="1000"/>
              </a:spcAft>
            </a:pPr>
            <a:r>
              <a:rPr sz="1500">
                <a:solidFill>
                  <a:srgbClr val="212121"/>
                </a:solidFill>
                <a:latin typeface="Calibri"/>
              </a:rPr>
              <a:t>●  Pipeline 1 — CA par restaurant ($group + $lookup)</a:t>
            </a:r>
          </a:p>
          <a:p>
            <a:pPr>
              <a:lnSpc>
                <a:spcPct val="105000"/>
              </a:lnSpc>
              <a:spcAft>
                <a:spcPts val="1000"/>
              </a:spcAft>
            </a:pPr>
            <a:r>
              <a:rPr sz="1500">
                <a:solidFill>
                  <a:srgbClr val="212121"/>
                </a:solidFill>
                <a:latin typeface="Calibri"/>
              </a:rPr>
              <a:t>●  Pipeline 2 — performance des livreurs</a:t>
            </a:r>
          </a:p>
          <a:p>
            <a:pPr>
              <a:lnSpc>
                <a:spcPct val="105000"/>
              </a:lnSpc>
              <a:spcAft>
                <a:spcPts val="1000"/>
              </a:spcAft>
            </a:pPr>
            <a:r>
              <a:rPr sz="1500">
                <a:solidFill>
                  <a:srgbClr val="212121"/>
                </a:solidFill>
                <a:latin typeface="Calibri"/>
              </a:rPr>
              <a:t>●  Pipeline 3 — revenus par moyen de paiement / restaurant</a:t>
            </a:r>
          </a:p>
        </p:txBody>
      </p:sp>
      <p:sp>
        <p:nvSpPr>
          <p:cNvPr id="10" name="TextBox 9"/>
          <p:cNvSpPr txBox="1"/>
          <p:nvPr/>
        </p:nvSpPr>
        <p:spPr>
          <a:xfrm>
            <a:off x="502920" y="4297680"/>
            <a:ext cx="11155680" cy="1554480"/>
          </a:xfrm>
          <a:prstGeom prst="rect">
            <a:avLst/>
          </a:prstGeom>
          <a:noFill/>
        </p:spPr>
        <p:txBody>
          <a:bodyPr wrap="square" anchor="t">
            <a:spAutoFit/>
          </a:bodyPr>
          <a:lstStyle/>
          <a:p>
            <a:pPr algn="l">
              <a:lnSpc>
                <a:spcPct val="125000"/>
              </a:lnSpc>
            </a:pPr>
            <a:r>
              <a:rPr sz="1600" b="0" i="0">
                <a:solidFill>
                  <a:srgbClr val="212121"/>
                </a:solidFill>
                <a:latin typeface="Calibri"/>
              </a:rPr>
              <a:t>$lookup joue systématiquement le rôle d'un JOIN SQL pour enrichir un résultat agrégé (id → nom du restaurant, nom du livreur), mais déclenché explicitement à la lecture plutôt qu'imposé par le schéma.</a:t>
            </a:r>
          </a:p>
        </p:txBody>
      </p:sp>
      <p:sp>
        <p:nvSpPr>
          <p:cNvPr id="11" name="TextBox 10"/>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12" name="TextBox 11"/>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6. INDEXATION</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11 index dont 5 composés (minimum requis : 3)</a:t>
            </a:r>
          </a:p>
        </p:txBody>
      </p:sp>
      <p:graphicFrame>
        <p:nvGraphicFramePr>
          <p:cNvPr id="6" name="Table 5"/>
          <p:cNvGraphicFramePr>
            <a:graphicFrameLocks noGrp="1"/>
          </p:cNvGraphicFramePr>
          <p:nvPr/>
        </p:nvGraphicFramePr>
        <p:xfrm>
          <a:off x="457200" y="1371600"/>
          <a:ext cx="11247117" cy="3931920"/>
        </p:xfrm>
        <a:graphic>
          <a:graphicData uri="http://schemas.openxmlformats.org/drawingml/2006/table">
            <a:tbl>
              <a:tblPr firstRow="1" bandRow="1">
                <a:tableStyleId>{5C22544A-7EE6-4342-B048-85BDC9FD1C3A}</a:tableStyleId>
              </a:tblPr>
              <a:tblGrid>
                <a:gridCol w="2209255">
                  <a:extLst>
                    <a:ext uri="{9D8B030D-6E8A-4147-A177-3AD203B41FA5}">
                      <a16:colId xmlns:a16="http://schemas.microsoft.com/office/drawing/2014/main" val="20000"/>
                    </a:ext>
                  </a:extLst>
                </a:gridCol>
                <a:gridCol w="3213462">
                  <a:extLst>
                    <a:ext uri="{9D8B030D-6E8A-4147-A177-3AD203B41FA5}">
                      <a16:colId xmlns:a16="http://schemas.microsoft.com/office/drawing/2014/main" val="20001"/>
                    </a:ext>
                  </a:extLst>
                </a:gridCol>
                <a:gridCol w="1807572">
                  <a:extLst>
                    <a:ext uri="{9D8B030D-6E8A-4147-A177-3AD203B41FA5}">
                      <a16:colId xmlns:a16="http://schemas.microsoft.com/office/drawing/2014/main" val="20002"/>
                    </a:ext>
                  </a:extLst>
                </a:gridCol>
                <a:gridCol w="4016828">
                  <a:extLst>
                    <a:ext uri="{9D8B030D-6E8A-4147-A177-3AD203B41FA5}">
                      <a16:colId xmlns:a16="http://schemas.microsoft.com/office/drawing/2014/main" val="20003"/>
                    </a:ext>
                  </a:extLst>
                </a:gridCol>
              </a:tblGrid>
              <a:tr h="561702">
                <a:tc>
                  <a:txBody>
                    <a:bodyPr/>
                    <a:lstStyle/>
                    <a:p>
                      <a:pPr algn="l"/>
                      <a:r>
                        <a:rPr sz="1400" b="1">
                          <a:solidFill>
                            <a:srgbClr val="FFFFFF"/>
                          </a:solidFill>
                        </a:rPr>
                        <a:t>Collection</a:t>
                      </a:r>
                    </a:p>
                  </a:txBody>
                  <a:tcPr marT="50800" marB="50800" anchor="ctr">
                    <a:solidFill>
                      <a:srgbClr val="2E7D32"/>
                    </a:solidFill>
                  </a:tcPr>
                </a:tc>
                <a:tc>
                  <a:txBody>
                    <a:bodyPr/>
                    <a:lstStyle/>
                    <a:p>
                      <a:pPr algn="l"/>
                      <a:r>
                        <a:rPr sz="1400" b="1">
                          <a:solidFill>
                            <a:srgbClr val="FFFFFF"/>
                          </a:solidFill>
                        </a:rPr>
                        <a:t>Champ(s)</a:t>
                      </a:r>
                    </a:p>
                  </a:txBody>
                  <a:tcPr marT="50800" marB="50800" anchor="ctr">
                    <a:solidFill>
                      <a:srgbClr val="2E7D32"/>
                    </a:solidFill>
                  </a:tcPr>
                </a:tc>
                <a:tc>
                  <a:txBody>
                    <a:bodyPr/>
                    <a:lstStyle/>
                    <a:p>
                      <a:pPr algn="l"/>
                      <a:r>
                        <a:rPr sz="1400" b="1">
                          <a:solidFill>
                            <a:srgbClr val="FFFFFF"/>
                          </a:solidFill>
                        </a:rPr>
                        <a:t>Type</a:t>
                      </a:r>
                    </a:p>
                  </a:txBody>
                  <a:tcPr marT="50800" marB="50800" anchor="ctr">
                    <a:solidFill>
                      <a:srgbClr val="2E7D32"/>
                    </a:solidFill>
                  </a:tcPr>
                </a:tc>
                <a:tc>
                  <a:txBody>
                    <a:bodyPr/>
                    <a:lstStyle/>
                    <a:p>
                      <a:pPr algn="l"/>
                      <a:r>
                        <a:rPr sz="1400" b="1">
                          <a:solidFill>
                            <a:srgbClr val="FFFFFF"/>
                          </a:solidFill>
                        </a:rPr>
                        <a:t>Justification</a:t>
                      </a:r>
                    </a:p>
                  </a:txBody>
                  <a:tcPr marT="50800" marB="50800" anchor="ctr">
                    <a:solidFill>
                      <a:srgbClr val="2E7D32"/>
                    </a:solidFill>
                  </a:tcPr>
                </a:tc>
                <a:extLst>
                  <a:ext uri="{0D108BD9-81ED-4DB2-BD59-A6C34878D82A}">
                    <a16:rowId xmlns:a16="http://schemas.microsoft.com/office/drawing/2014/main" val="10000"/>
                  </a:ext>
                </a:extLst>
              </a:tr>
              <a:tr h="561702">
                <a:tc>
                  <a:txBody>
                    <a:bodyPr/>
                    <a:lstStyle/>
                    <a:p>
                      <a:r>
                        <a:rPr sz="1300">
                          <a:solidFill>
                            <a:srgbClr val="212121"/>
                          </a:solidFill>
                        </a:rPr>
                        <a:t>users</a:t>
                      </a:r>
                    </a:p>
                  </a:txBody>
                  <a:tcPr marT="38100" marB="38100" anchor="ctr">
                    <a:solidFill>
                      <a:srgbClr val="E8F5E9"/>
                    </a:solidFill>
                  </a:tcPr>
                </a:tc>
                <a:tc>
                  <a:txBody>
                    <a:bodyPr/>
                    <a:lstStyle/>
                    <a:p>
                      <a:r>
                        <a:rPr sz="1300">
                          <a:solidFill>
                            <a:srgbClr val="212121"/>
                          </a:solidFill>
                        </a:rPr>
                        <a:t>email</a:t>
                      </a:r>
                    </a:p>
                  </a:txBody>
                  <a:tcPr marT="38100" marB="38100" anchor="ctr">
                    <a:solidFill>
                      <a:srgbClr val="E8F5E9"/>
                    </a:solidFill>
                  </a:tcPr>
                </a:tc>
                <a:tc>
                  <a:txBody>
                    <a:bodyPr/>
                    <a:lstStyle/>
                    <a:p>
                      <a:r>
                        <a:rPr sz="1300">
                          <a:solidFill>
                            <a:srgbClr val="212121"/>
                          </a:solidFill>
                        </a:rPr>
                        <a:t>Unique</a:t>
                      </a:r>
                    </a:p>
                  </a:txBody>
                  <a:tcPr marT="38100" marB="38100" anchor="ctr">
                    <a:solidFill>
                      <a:srgbClr val="E8F5E9"/>
                    </a:solidFill>
                  </a:tcPr>
                </a:tc>
                <a:tc>
                  <a:txBody>
                    <a:bodyPr/>
                    <a:lstStyle/>
                    <a:p>
                      <a:r>
                        <a:rPr sz="1300">
                          <a:solidFill>
                            <a:srgbClr val="212121"/>
                          </a:solidFill>
                        </a:rPr>
                        <a:t>Authentification</a:t>
                      </a:r>
                    </a:p>
                  </a:txBody>
                  <a:tcPr marT="38100" marB="38100" anchor="ctr">
                    <a:solidFill>
                      <a:srgbClr val="E8F5E9"/>
                    </a:solidFill>
                  </a:tcPr>
                </a:tc>
                <a:extLst>
                  <a:ext uri="{0D108BD9-81ED-4DB2-BD59-A6C34878D82A}">
                    <a16:rowId xmlns:a16="http://schemas.microsoft.com/office/drawing/2014/main" val="10001"/>
                  </a:ext>
                </a:extLst>
              </a:tr>
              <a:tr h="561702">
                <a:tc>
                  <a:txBody>
                    <a:bodyPr/>
                    <a:lstStyle/>
                    <a:p>
                      <a:r>
                        <a:rPr sz="1300">
                          <a:solidFill>
                            <a:srgbClr val="212121"/>
                          </a:solidFill>
                        </a:rPr>
                        <a:t>restaurants</a:t>
                      </a:r>
                    </a:p>
                  </a:txBody>
                  <a:tcPr marT="38100" marB="38100" anchor="ctr">
                    <a:solidFill>
                      <a:srgbClr val="FFFFFF"/>
                    </a:solidFill>
                  </a:tcPr>
                </a:tc>
                <a:tc>
                  <a:txBody>
                    <a:bodyPr/>
                    <a:lstStyle/>
                    <a:p>
                      <a:r>
                        <a:rPr sz="1300">
                          <a:solidFill>
                            <a:srgbClr val="212121"/>
                          </a:solidFill>
                        </a:rPr>
                        <a:t>address.coordinates</a:t>
                      </a:r>
                    </a:p>
                  </a:txBody>
                  <a:tcPr marT="38100" marB="38100" anchor="ctr">
                    <a:solidFill>
                      <a:srgbClr val="FFFFFF"/>
                    </a:solidFill>
                  </a:tcPr>
                </a:tc>
                <a:tc>
                  <a:txBody>
                    <a:bodyPr/>
                    <a:lstStyle/>
                    <a:p>
                      <a:r>
                        <a:rPr sz="1300">
                          <a:solidFill>
                            <a:srgbClr val="212121"/>
                          </a:solidFill>
                        </a:rPr>
                        <a:t>2dsphere</a:t>
                      </a:r>
                    </a:p>
                  </a:txBody>
                  <a:tcPr marT="38100" marB="38100" anchor="ctr">
                    <a:solidFill>
                      <a:srgbClr val="FFFFFF"/>
                    </a:solidFill>
                  </a:tcPr>
                </a:tc>
                <a:tc>
                  <a:txBody>
                    <a:bodyPr/>
                    <a:lstStyle/>
                    <a:p>
                      <a:r>
                        <a:rPr sz="1300">
                          <a:solidFill>
                            <a:srgbClr val="212121"/>
                          </a:solidFill>
                        </a:rPr>
                        <a:t>Proximité</a:t>
                      </a:r>
                    </a:p>
                  </a:txBody>
                  <a:tcPr marT="38100" marB="38100" anchor="ctr">
                    <a:solidFill>
                      <a:srgbClr val="FFFFFF"/>
                    </a:solidFill>
                  </a:tcPr>
                </a:tc>
                <a:extLst>
                  <a:ext uri="{0D108BD9-81ED-4DB2-BD59-A6C34878D82A}">
                    <a16:rowId xmlns:a16="http://schemas.microsoft.com/office/drawing/2014/main" val="10002"/>
                  </a:ext>
                </a:extLst>
              </a:tr>
              <a:tr h="561702">
                <a:tc>
                  <a:txBody>
                    <a:bodyPr/>
                    <a:lstStyle/>
                    <a:p>
                      <a:r>
                        <a:rPr sz="1300">
                          <a:solidFill>
                            <a:srgbClr val="212121"/>
                          </a:solidFill>
                        </a:rPr>
                        <a:t>restaurants</a:t>
                      </a:r>
                    </a:p>
                  </a:txBody>
                  <a:tcPr marT="38100" marB="38100" anchor="ctr">
                    <a:solidFill>
                      <a:srgbClr val="E8F5E9"/>
                    </a:solidFill>
                  </a:tcPr>
                </a:tc>
                <a:tc>
                  <a:txBody>
                    <a:bodyPr/>
                    <a:lstStyle/>
                    <a:p>
                      <a:r>
                        <a:rPr sz="1300">
                          <a:solidFill>
                            <a:srgbClr val="212121"/>
                          </a:solidFill>
                        </a:rPr>
                        <a:t>address.district, isOpen</a:t>
                      </a:r>
                    </a:p>
                  </a:txBody>
                  <a:tcPr marT="38100" marB="38100" anchor="ctr">
                    <a:solidFill>
                      <a:srgbClr val="E8F5E9"/>
                    </a:solidFill>
                  </a:tcPr>
                </a:tc>
                <a:tc>
                  <a:txBody>
                    <a:bodyPr/>
                    <a:lstStyle/>
                    <a:p>
                      <a:r>
                        <a:rPr sz="1300">
                          <a:solidFill>
                            <a:srgbClr val="212121"/>
                          </a:solidFill>
                        </a:rPr>
                        <a:t>Composé</a:t>
                      </a:r>
                    </a:p>
                  </a:txBody>
                  <a:tcPr marT="38100" marB="38100" anchor="ctr">
                    <a:solidFill>
                      <a:srgbClr val="E8F5E9"/>
                    </a:solidFill>
                  </a:tcPr>
                </a:tc>
                <a:tc>
                  <a:txBody>
                    <a:bodyPr/>
                    <a:lstStyle/>
                    <a:p>
                      <a:r>
                        <a:rPr sz="1300">
                          <a:solidFill>
                            <a:srgbClr val="212121"/>
                          </a:solidFill>
                        </a:rPr>
                        <a:t>Route la plus consultée</a:t>
                      </a:r>
                    </a:p>
                  </a:txBody>
                  <a:tcPr marT="38100" marB="38100" anchor="ctr">
                    <a:solidFill>
                      <a:srgbClr val="E8F5E9"/>
                    </a:solidFill>
                  </a:tcPr>
                </a:tc>
                <a:extLst>
                  <a:ext uri="{0D108BD9-81ED-4DB2-BD59-A6C34878D82A}">
                    <a16:rowId xmlns:a16="http://schemas.microsoft.com/office/drawing/2014/main" val="10003"/>
                  </a:ext>
                </a:extLst>
              </a:tr>
              <a:tr h="561702">
                <a:tc>
                  <a:txBody>
                    <a:bodyPr/>
                    <a:lstStyle/>
                    <a:p>
                      <a:r>
                        <a:rPr sz="1300">
                          <a:solidFill>
                            <a:srgbClr val="212121"/>
                          </a:solidFill>
                        </a:rPr>
                        <a:t>commandes</a:t>
                      </a:r>
                    </a:p>
                  </a:txBody>
                  <a:tcPr marT="38100" marB="38100" anchor="ctr">
                    <a:solidFill>
                      <a:srgbClr val="FFFFFF"/>
                    </a:solidFill>
                  </a:tcPr>
                </a:tc>
                <a:tc>
                  <a:txBody>
                    <a:bodyPr/>
                    <a:lstStyle/>
                    <a:p>
                      <a:r>
                        <a:rPr sz="1300">
                          <a:solidFill>
                            <a:srgbClr val="212121"/>
                          </a:solidFill>
                        </a:rPr>
                        <a:t>status, restaurant_id</a:t>
                      </a:r>
                    </a:p>
                  </a:txBody>
                  <a:tcPr marT="38100" marB="38100" anchor="ctr">
                    <a:solidFill>
                      <a:srgbClr val="FFFFFF"/>
                    </a:solidFill>
                  </a:tcPr>
                </a:tc>
                <a:tc>
                  <a:txBody>
                    <a:bodyPr/>
                    <a:lstStyle/>
                    <a:p>
                      <a:r>
                        <a:rPr sz="1300">
                          <a:solidFill>
                            <a:srgbClr val="212121"/>
                          </a:solidFill>
                        </a:rPr>
                        <a:t>Composé</a:t>
                      </a:r>
                    </a:p>
                  </a:txBody>
                  <a:tcPr marT="38100" marB="38100" anchor="ctr">
                    <a:solidFill>
                      <a:srgbClr val="FFFFFF"/>
                    </a:solidFill>
                  </a:tcPr>
                </a:tc>
                <a:tc>
                  <a:txBody>
                    <a:bodyPr/>
                    <a:lstStyle/>
                    <a:p>
                      <a:r>
                        <a:rPr sz="1300">
                          <a:solidFill>
                            <a:srgbClr val="212121"/>
                          </a:solidFill>
                        </a:rPr>
                        <a:t>Tableau de bord vendeur (critique)</a:t>
                      </a:r>
                    </a:p>
                  </a:txBody>
                  <a:tcPr marT="38100" marB="38100" anchor="ctr">
                    <a:solidFill>
                      <a:srgbClr val="FFFFFF"/>
                    </a:solidFill>
                  </a:tcPr>
                </a:tc>
                <a:extLst>
                  <a:ext uri="{0D108BD9-81ED-4DB2-BD59-A6C34878D82A}">
                    <a16:rowId xmlns:a16="http://schemas.microsoft.com/office/drawing/2014/main" val="10004"/>
                  </a:ext>
                </a:extLst>
              </a:tr>
              <a:tr h="561702">
                <a:tc>
                  <a:txBody>
                    <a:bodyPr/>
                    <a:lstStyle/>
                    <a:p>
                      <a:r>
                        <a:rPr sz="1300">
                          <a:solidFill>
                            <a:srgbClr val="212121"/>
                          </a:solidFill>
                        </a:rPr>
                        <a:t>commandes</a:t>
                      </a:r>
                    </a:p>
                  </a:txBody>
                  <a:tcPr marT="38100" marB="38100" anchor="ctr">
                    <a:solidFill>
                      <a:srgbClr val="E8F5E9"/>
                    </a:solidFill>
                  </a:tcPr>
                </a:tc>
                <a:tc>
                  <a:txBody>
                    <a:bodyPr/>
                    <a:lstStyle/>
                    <a:p>
                      <a:r>
                        <a:rPr sz="1300">
                          <a:solidFill>
                            <a:srgbClr val="212121"/>
                          </a:solidFill>
                        </a:rPr>
                        <a:t>customer_id, createdAt</a:t>
                      </a:r>
                    </a:p>
                  </a:txBody>
                  <a:tcPr marT="38100" marB="38100" anchor="ctr">
                    <a:solidFill>
                      <a:srgbClr val="E8F5E9"/>
                    </a:solidFill>
                  </a:tcPr>
                </a:tc>
                <a:tc>
                  <a:txBody>
                    <a:bodyPr/>
                    <a:lstStyle/>
                    <a:p>
                      <a:r>
                        <a:rPr sz="1300">
                          <a:solidFill>
                            <a:srgbClr val="212121"/>
                          </a:solidFill>
                        </a:rPr>
                        <a:t>Composé</a:t>
                      </a:r>
                    </a:p>
                  </a:txBody>
                  <a:tcPr marT="38100" marB="38100" anchor="ctr">
                    <a:solidFill>
                      <a:srgbClr val="E8F5E9"/>
                    </a:solidFill>
                  </a:tcPr>
                </a:tc>
                <a:tc>
                  <a:txBody>
                    <a:bodyPr/>
                    <a:lstStyle/>
                    <a:p>
                      <a:r>
                        <a:rPr sz="1300">
                          <a:solidFill>
                            <a:srgbClr val="212121"/>
                          </a:solidFill>
                        </a:rPr>
                        <a:t>Historique client</a:t>
                      </a:r>
                    </a:p>
                  </a:txBody>
                  <a:tcPr marT="38100" marB="38100" anchor="ctr">
                    <a:solidFill>
                      <a:srgbClr val="E8F5E9"/>
                    </a:solidFill>
                  </a:tcPr>
                </a:tc>
                <a:extLst>
                  <a:ext uri="{0D108BD9-81ED-4DB2-BD59-A6C34878D82A}">
                    <a16:rowId xmlns:a16="http://schemas.microsoft.com/office/drawing/2014/main" val="10005"/>
                  </a:ext>
                </a:extLst>
              </a:tr>
              <a:tr h="561708">
                <a:tc>
                  <a:txBody>
                    <a:bodyPr/>
                    <a:lstStyle/>
                    <a:p>
                      <a:r>
                        <a:rPr sz="1300">
                          <a:solidFill>
                            <a:srgbClr val="212121"/>
                          </a:solidFill>
                        </a:rPr>
                        <a:t>deliverers</a:t>
                      </a:r>
                    </a:p>
                  </a:txBody>
                  <a:tcPr marT="38100" marB="38100" anchor="ctr">
                    <a:solidFill>
                      <a:srgbClr val="FFFFFF"/>
                    </a:solidFill>
                  </a:tcPr>
                </a:tc>
                <a:tc>
                  <a:txBody>
                    <a:bodyPr/>
                    <a:lstStyle/>
                    <a:p>
                      <a:r>
                        <a:rPr sz="1300">
                          <a:solidFill>
                            <a:srgbClr val="212121"/>
                          </a:solidFill>
                        </a:rPr>
                        <a:t>isAvailable, isActive</a:t>
                      </a:r>
                    </a:p>
                  </a:txBody>
                  <a:tcPr marT="38100" marB="38100" anchor="ctr">
                    <a:solidFill>
                      <a:srgbClr val="FFFFFF"/>
                    </a:solidFill>
                  </a:tcPr>
                </a:tc>
                <a:tc>
                  <a:txBody>
                    <a:bodyPr/>
                    <a:lstStyle/>
                    <a:p>
                      <a:r>
                        <a:rPr sz="1300">
                          <a:solidFill>
                            <a:srgbClr val="212121"/>
                          </a:solidFill>
                        </a:rPr>
                        <a:t>Composé</a:t>
                      </a:r>
                    </a:p>
                  </a:txBody>
                  <a:tcPr marT="38100" marB="38100" anchor="ctr">
                    <a:solidFill>
                      <a:srgbClr val="FFFFFF"/>
                    </a:solidFill>
                  </a:tcPr>
                </a:tc>
                <a:tc>
                  <a:txBody>
                    <a:bodyPr/>
                    <a:lstStyle/>
                    <a:p>
                      <a:r>
                        <a:rPr sz="1300">
                          <a:solidFill>
                            <a:srgbClr val="212121"/>
                          </a:solidFill>
                        </a:rPr>
                        <a:t>Attribution livreur</a:t>
                      </a:r>
                    </a:p>
                  </a:txBody>
                  <a:tcPr marT="38100" marB="38100" anchor="ctr">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457200" y="5486400"/>
            <a:ext cx="11247120" cy="822960"/>
          </a:xfrm>
          <a:prstGeom prst="rect">
            <a:avLst/>
          </a:prstGeom>
          <a:noFill/>
        </p:spPr>
        <p:txBody>
          <a:bodyPr wrap="square" anchor="t">
            <a:spAutoFit/>
          </a:bodyPr>
          <a:lstStyle/>
          <a:p>
            <a:pPr algn="l">
              <a:lnSpc>
                <a:spcPct val="100000"/>
              </a:lnSpc>
            </a:pPr>
            <a:r>
              <a:rPr sz="1400" b="0" i="1">
                <a:solidFill>
                  <a:srgbClr val="555555"/>
                </a:solidFill>
                <a:latin typeface="Calibri"/>
              </a:rPr>
              <a:t>Règle ESR (Equality, Sort, Range) appliquée : le champ filtré par égalité stricte est toujours placé en tête de l'index composé.</a:t>
            </a:r>
          </a:p>
        </p:txBody>
      </p:sp>
      <p:sp>
        <p:nvSpPr>
          <p:cNvPr id="8" name="TextBox 7"/>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9" name="TextBox 8"/>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7. ANALYSE DES PERFORMANCES</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COLLSCAN → IXSCAN</a:t>
            </a:r>
          </a:p>
        </p:txBody>
      </p:sp>
      <p:sp>
        <p:nvSpPr>
          <p:cNvPr id="6" name="TextBox 5"/>
          <p:cNvSpPr txBox="1"/>
          <p:nvPr/>
        </p:nvSpPr>
        <p:spPr>
          <a:xfrm>
            <a:off x="502920" y="1280160"/>
            <a:ext cx="11155680" cy="457200"/>
          </a:xfrm>
          <a:prstGeom prst="rect">
            <a:avLst/>
          </a:prstGeom>
          <a:noFill/>
        </p:spPr>
        <p:txBody>
          <a:bodyPr wrap="square" anchor="t">
            <a:spAutoFit/>
          </a:bodyPr>
          <a:lstStyle/>
          <a:p>
            <a:pPr algn="l">
              <a:lnSpc>
                <a:spcPct val="100000"/>
              </a:lnSpc>
            </a:pPr>
            <a:r>
              <a:rPr sz="1500" b="0" i="1">
                <a:solidFill>
                  <a:srgbClr val="555555"/>
                </a:solidFill>
                <a:latin typeface="Calibri"/>
              </a:rPr>
              <a:t>Index critique testé : commandes (status, restaurant_id) — tableau de bord du restaurateur, sur 500 documents</a:t>
            </a:r>
          </a:p>
        </p:txBody>
      </p:sp>
      <p:graphicFrame>
        <p:nvGraphicFramePr>
          <p:cNvPr id="7" name="Table 6"/>
          <p:cNvGraphicFramePr>
            <a:graphicFrameLocks noGrp="1"/>
          </p:cNvGraphicFramePr>
          <p:nvPr/>
        </p:nvGraphicFramePr>
        <p:xfrm>
          <a:off x="640080" y="1874519"/>
          <a:ext cx="10881360" cy="237744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75488">
                <a:tc>
                  <a:txBody>
                    <a:bodyPr/>
                    <a:lstStyle/>
                    <a:p>
                      <a:pPr algn="l"/>
                      <a:r>
                        <a:rPr sz="1600" b="1">
                          <a:solidFill>
                            <a:srgbClr val="FFFFFF"/>
                          </a:solidFill>
                        </a:rPr>
                        <a:t>Métrique</a:t>
                      </a:r>
                    </a:p>
                  </a:txBody>
                  <a:tcPr marT="50800" marB="50800" anchor="ctr">
                    <a:solidFill>
                      <a:srgbClr val="2E7D32"/>
                    </a:solidFill>
                  </a:tcPr>
                </a:tc>
                <a:tc>
                  <a:txBody>
                    <a:bodyPr/>
                    <a:lstStyle/>
                    <a:p>
                      <a:pPr algn="l"/>
                      <a:r>
                        <a:rPr sz="1600" b="1">
                          <a:solidFill>
                            <a:srgbClr val="FFFFFF"/>
                          </a:solidFill>
                        </a:rPr>
                        <a:t>Sans index (COLLSCAN)</a:t>
                      </a:r>
                    </a:p>
                  </a:txBody>
                  <a:tcPr marT="50800" marB="50800" anchor="ctr">
                    <a:solidFill>
                      <a:srgbClr val="2E7D32"/>
                    </a:solidFill>
                  </a:tcPr>
                </a:tc>
                <a:tc>
                  <a:txBody>
                    <a:bodyPr/>
                    <a:lstStyle/>
                    <a:p>
                      <a:pPr algn="l"/>
                      <a:r>
                        <a:rPr sz="1600" b="1">
                          <a:solidFill>
                            <a:srgbClr val="FFFFFF"/>
                          </a:solidFill>
                        </a:rPr>
                        <a:t>Avec index (IXSCAN)</a:t>
                      </a:r>
                    </a:p>
                  </a:txBody>
                  <a:tcPr marT="50800" marB="50800" anchor="ctr">
                    <a:solidFill>
                      <a:srgbClr val="2E7D32"/>
                    </a:solidFill>
                  </a:tcPr>
                </a:tc>
                <a:extLst>
                  <a:ext uri="{0D108BD9-81ED-4DB2-BD59-A6C34878D82A}">
                    <a16:rowId xmlns:a16="http://schemas.microsoft.com/office/drawing/2014/main" val="10000"/>
                  </a:ext>
                </a:extLst>
              </a:tr>
              <a:tr h="475488">
                <a:tc>
                  <a:txBody>
                    <a:bodyPr/>
                    <a:lstStyle/>
                    <a:p>
                      <a:r>
                        <a:rPr sz="1600">
                          <a:solidFill>
                            <a:srgbClr val="212121"/>
                          </a:solidFill>
                        </a:rPr>
                        <a:t>Stage gagnant</a:t>
                      </a:r>
                    </a:p>
                  </a:txBody>
                  <a:tcPr marT="38100" marB="38100" anchor="ctr">
                    <a:solidFill>
                      <a:srgbClr val="E8F5E9"/>
                    </a:solidFill>
                  </a:tcPr>
                </a:tc>
                <a:tc>
                  <a:txBody>
                    <a:bodyPr/>
                    <a:lstStyle/>
                    <a:p>
                      <a:r>
                        <a:rPr sz="1600">
                          <a:solidFill>
                            <a:srgbClr val="212121"/>
                          </a:solidFill>
                        </a:rPr>
                        <a:t>COLLSCAN</a:t>
                      </a:r>
                    </a:p>
                  </a:txBody>
                  <a:tcPr marT="38100" marB="38100" anchor="ctr">
                    <a:solidFill>
                      <a:srgbClr val="E8F5E9"/>
                    </a:solidFill>
                  </a:tcPr>
                </a:tc>
                <a:tc>
                  <a:txBody>
                    <a:bodyPr/>
                    <a:lstStyle/>
                    <a:p>
                      <a:r>
                        <a:rPr sz="1600">
                          <a:solidFill>
                            <a:srgbClr val="212121"/>
                          </a:solidFill>
                        </a:rPr>
                        <a:t>FETCH ← IXSCAN</a:t>
                      </a:r>
                    </a:p>
                  </a:txBody>
                  <a:tcPr marT="38100" marB="38100" anchor="ctr">
                    <a:solidFill>
                      <a:srgbClr val="E8F5E9"/>
                    </a:solidFill>
                  </a:tcPr>
                </a:tc>
                <a:extLst>
                  <a:ext uri="{0D108BD9-81ED-4DB2-BD59-A6C34878D82A}">
                    <a16:rowId xmlns:a16="http://schemas.microsoft.com/office/drawing/2014/main" val="10001"/>
                  </a:ext>
                </a:extLst>
              </a:tr>
              <a:tr h="475488">
                <a:tc>
                  <a:txBody>
                    <a:bodyPr/>
                    <a:lstStyle/>
                    <a:p>
                      <a:r>
                        <a:rPr sz="1600">
                          <a:solidFill>
                            <a:srgbClr val="212121"/>
                          </a:solidFill>
                        </a:rPr>
                        <a:t>Documents examinés</a:t>
                      </a:r>
                    </a:p>
                  </a:txBody>
                  <a:tcPr marT="38100" marB="38100" anchor="ctr">
                    <a:solidFill>
                      <a:srgbClr val="FFFFFF"/>
                    </a:solidFill>
                  </a:tcPr>
                </a:tc>
                <a:tc>
                  <a:txBody>
                    <a:bodyPr/>
                    <a:lstStyle/>
                    <a:p>
                      <a:r>
                        <a:rPr sz="1600">
                          <a:solidFill>
                            <a:srgbClr val="212121"/>
                          </a:solidFill>
                        </a:rPr>
                        <a:t>500 (collection entière)</a:t>
                      </a:r>
                    </a:p>
                  </a:txBody>
                  <a:tcPr marT="38100" marB="38100" anchor="ctr">
                    <a:solidFill>
                      <a:srgbClr val="FFFFFF"/>
                    </a:solidFill>
                  </a:tcPr>
                </a:tc>
                <a:tc>
                  <a:txBody>
                    <a:bodyPr/>
                    <a:lstStyle/>
                    <a:p>
                      <a:r>
                        <a:rPr sz="1600">
                          <a:solidFill>
                            <a:srgbClr val="212121"/>
                          </a:solidFill>
                        </a:rPr>
                        <a:t>12</a:t>
                      </a:r>
                    </a:p>
                  </a:txBody>
                  <a:tcPr marT="38100" marB="38100" anchor="ctr">
                    <a:solidFill>
                      <a:srgbClr val="FFFFFF"/>
                    </a:solidFill>
                  </a:tcPr>
                </a:tc>
                <a:extLst>
                  <a:ext uri="{0D108BD9-81ED-4DB2-BD59-A6C34878D82A}">
                    <a16:rowId xmlns:a16="http://schemas.microsoft.com/office/drawing/2014/main" val="10002"/>
                  </a:ext>
                </a:extLst>
              </a:tr>
              <a:tr h="475488">
                <a:tc>
                  <a:txBody>
                    <a:bodyPr/>
                    <a:lstStyle/>
                    <a:p>
                      <a:r>
                        <a:rPr sz="1600">
                          <a:solidFill>
                            <a:srgbClr val="212121"/>
                          </a:solidFill>
                        </a:rPr>
                        <a:t>Documents retournés</a:t>
                      </a:r>
                    </a:p>
                  </a:txBody>
                  <a:tcPr marT="38100" marB="38100" anchor="ctr">
                    <a:solidFill>
                      <a:srgbClr val="E8F5E9"/>
                    </a:solidFill>
                  </a:tcPr>
                </a:tc>
                <a:tc>
                  <a:txBody>
                    <a:bodyPr/>
                    <a:lstStyle/>
                    <a:p>
                      <a:r>
                        <a:rPr sz="1600">
                          <a:solidFill>
                            <a:srgbClr val="212121"/>
                          </a:solidFill>
                        </a:rPr>
                        <a:t>12</a:t>
                      </a:r>
                    </a:p>
                  </a:txBody>
                  <a:tcPr marT="38100" marB="38100" anchor="ctr">
                    <a:solidFill>
                      <a:srgbClr val="E8F5E9"/>
                    </a:solidFill>
                  </a:tcPr>
                </a:tc>
                <a:tc>
                  <a:txBody>
                    <a:bodyPr/>
                    <a:lstStyle/>
                    <a:p>
                      <a:r>
                        <a:rPr sz="1600">
                          <a:solidFill>
                            <a:srgbClr val="212121"/>
                          </a:solidFill>
                        </a:rPr>
                        <a:t>12</a:t>
                      </a:r>
                    </a:p>
                  </a:txBody>
                  <a:tcPr marT="38100" marB="38100" anchor="ctr">
                    <a:solidFill>
                      <a:srgbClr val="E8F5E9"/>
                    </a:solidFill>
                  </a:tcPr>
                </a:tc>
                <a:extLst>
                  <a:ext uri="{0D108BD9-81ED-4DB2-BD59-A6C34878D82A}">
                    <a16:rowId xmlns:a16="http://schemas.microsoft.com/office/drawing/2014/main" val="10003"/>
                  </a:ext>
                </a:extLst>
              </a:tr>
              <a:tr h="475488">
                <a:tc>
                  <a:txBody>
                    <a:bodyPr/>
                    <a:lstStyle/>
                    <a:p>
                      <a:r>
                        <a:rPr sz="1600">
                          <a:solidFill>
                            <a:srgbClr val="212121"/>
                          </a:solidFill>
                        </a:rPr>
                        <a:t>Ratio examinés / retournés</a:t>
                      </a:r>
                    </a:p>
                  </a:txBody>
                  <a:tcPr marT="38100" marB="38100" anchor="ctr">
                    <a:solidFill>
                      <a:srgbClr val="FFFFFF"/>
                    </a:solidFill>
                  </a:tcPr>
                </a:tc>
                <a:tc>
                  <a:txBody>
                    <a:bodyPr/>
                    <a:lstStyle/>
                    <a:p>
                      <a:r>
                        <a:rPr sz="1600">
                          <a:solidFill>
                            <a:srgbClr val="212121"/>
                          </a:solidFill>
                        </a:rPr>
                        <a:t>41,7</a:t>
                      </a:r>
                    </a:p>
                  </a:txBody>
                  <a:tcPr marT="38100" marB="38100" anchor="ctr">
                    <a:solidFill>
                      <a:srgbClr val="FFFFFF"/>
                    </a:solidFill>
                  </a:tcPr>
                </a:tc>
                <a:tc>
                  <a:txBody>
                    <a:bodyPr/>
                    <a:lstStyle/>
                    <a:p>
                      <a:r>
                        <a:rPr sz="1600">
                          <a:solidFill>
                            <a:srgbClr val="212121"/>
                          </a:solidFill>
                        </a:rPr>
                        <a:t>1</a:t>
                      </a:r>
                    </a:p>
                  </a:txBody>
                  <a:tcPr marT="38100" marB="38100"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02920" y="4526280"/>
            <a:ext cx="11155680" cy="1645920"/>
          </a:xfrm>
          <a:prstGeom prst="rect">
            <a:avLst/>
          </a:prstGeom>
          <a:noFill/>
        </p:spPr>
        <p:txBody>
          <a:bodyPr wrap="square" anchor="t">
            <a:spAutoFit/>
          </a:bodyPr>
          <a:lstStyle/>
          <a:p>
            <a:pPr algn="l">
              <a:lnSpc>
                <a:spcPct val="125000"/>
              </a:lnSpc>
            </a:pPr>
            <a:r>
              <a:rPr sz="1500" b="0" i="0">
                <a:solidFill>
                  <a:srgbClr val="212121"/>
                </a:solidFill>
                <a:latin typeface="Calibri"/>
              </a:rPr>
              <a:t>Sans index, le coût croît linéairement avec la taille de la collection, indépendamment de la sélectivité du filtre. Avec l'index composé, le coût ne dépend plus que du nombre de résultats réellement retournés. À l'échelle de production (ex. 50 000 commandes), l'écart se creuserait fortement : COLLSCAN examinerait 50 000 documents, IXSCAN resterait à coût quasi constant.</a:t>
            </a:r>
          </a:p>
        </p:txBody>
      </p:sp>
      <p:sp>
        <p:nvSpPr>
          <p:cNvPr id="9" name="TextBox 8"/>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10" name="TextBox 9"/>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8. COMPARAISON SQL CONTRE NOSQL</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Représenter une commande et son restaurant</a:t>
            </a:r>
          </a:p>
        </p:txBody>
      </p:sp>
      <p:graphicFrame>
        <p:nvGraphicFramePr>
          <p:cNvPr id="6" name="Table 5"/>
          <p:cNvGraphicFramePr>
            <a:graphicFrameLocks noGrp="1"/>
          </p:cNvGraphicFramePr>
          <p:nvPr/>
        </p:nvGraphicFramePr>
        <p:xfrm>
          <a:off x="457200" y="1371600"/>
          <a:ext cx="11247120" cy="44805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46760">
                <a:tc>
                  <a:txBody>
                    <a:bodyPr/>
                    <a:lstStyle/>
                    <a:p>
                      <a:pPr algn="l"/>
                      <a:r>
                        <a:rPr sz="1400" b="1">
                          <a:solidFill>
                            <a:srgbClr val="FFFFFF"/>
                          </a:solidFill>
                        </a:rPr>
                        <a:t>Critère</a:t>
                      </a:r>
                    </a:p>
                  </a:txBody>
                  <a:tcPr marT="50800" marB="50800" anchor="ctr">
                    <a:solidFill>
                      <a:srgbClr val="2E7D32"/>
                    </a:solidFill>
                  </a:tcPr>
                </a:tc>
                <a:tc>
                  <a:txBody>
                    <a:bodyPr/>
                    <a:lstStyle/>
                    <a:p>
                      <a:pPr algn="l"/>
                      <a:r>
                        <a:rPr sz="1400" b="1">
                          <a:solidFill>
                            <a:srgbClr val="FFFFFF"/>
                          </a:solidFill>
                        </a:rPr>
                        <a:t>Relationnel (SQL)</a:t>
                      </a:r>
                    </a:p>
                  </a:txBody>
                  <a:tcPr marT="50800" marB="50800" anchor="ctr">
                    <a:solidFill>
                      <a:srgbClr val="2E7D32"/>
                    </a:solidFill>
                  </a:tcPr>
                </a:tc>
                <a:tc>
                  <a:txBody>
                    <a:bodyPr/>
                    <a:lstStyle/>
                    <a:p>
                      <a:pPr algn="l"/>
                      <a:r>
                        <a:rPr sz="1400" b="1">
                          <a:solidFill>
                            <a:srgbClr val="FFFFFF"/>
                          </a:solidFill>
                        </a:rPr>
                        <a:t>Documentaire (MongoDB)</a:t>
                      </a:r>
                    </a:p>
                  </a:txBody>
                  <a:tcPr marT="50800" marB="50800" anchor="ctr">
                    <a:solidFill>
                      <a:srgbClr val="2E7D32"/>
                    </a:solidFill>
                  </a:tcPr>
                </a:tc>
                <a:extLst>
                  <a:ext uri="{0D108BD9-81ED-4DB2-BD59-A6C34878D82A}">
                    <a16:rowId xmlns:a16="http://schemas.microsoft.com/office/drawing/2014/main" val="10000"/>
                  </a:ext>
                </a:extLst>
              </a:tr>
              <a:tr h="746760">
                <a:tc>
                  <a:txBody>
                    <a:bodyPr/>
                    <a:lstStyle/>
                    <a:p>
                      <a:r>
                        <a:rPr sz="1300">
                          <a:solidFill>
                            <a:srgbClr val="212121"/>
                          </a:solidFill>
                        </a:rPr>
                        <a:t>Lecture commande complète</a:t>
                      </a:r>
                    </a:p>
                  </a:txBody>
                  <a:tcPr marT="38100" marB="38100" anchor="ctr">
                    <a:solidFill>
                      <a:srgbClr val="E8F5E9"/>
                    </a:solidFill>
                  </a:tcPr>
                </a:tc>
                <a:tc>
                  <a:txBody>
                    <a:bodyPr/>
                    <a:lstStyle/>
                    <a:p>
                      <a:r>
                        <a:rPr sz="1300">
                          <a:solidFill>
                            <a:srgbClr val="212121"/>
                          </a:solidFill>
                        </a:rPr>
                        <a:t>4 JOIN minimum</a:t>
                      </a:r>
                    </a:p>
                  </a:txBody>
                  <a:tcPr marT="38100" marB="38100" anchor="ctr">
                    <a:solidFill>
                      <a:srgbClr val="E8F5E9"/>
                    </a:solidFill>
                  </a:tcPr>
                </a:tc>
                <a:tc>
                  <a:txBody>
                    <a:bodyPr/>
                    <a:lstStyle/>
                    <a:p>
                      <a:r>
                        <a:rPr sz="1300">
                          <a:solidFill>
                            <a:srgbClr val="212121"/>
                          </a:solidFill>
                        </a:rPr>
                        <a:t>1 findOne, document déjà complet</a:t>
                      </a:r>
                    </a:p>
                  </a:txBody>
                  <a:tcPr marT="38100" marB="38100" anchor="ctr">
                    <a:solidFill>
                      <a:srgbClr val="E8F5E9"/>
                    </a:solidFill>
                  </a:tcPr>
                </a:tc>
                <a:extLst>
                  <a:ext uri="{0D108BD9-81ED-4DB2-BD59-A6C34878D82A}">
                    <a16:rowId xmlns:a16="http://schemas.microsoft.com/office/drawing/2014/main" val="10001"/>
                  </a:ext>
                </a:extLst>
              </a:tr>
              <a:tr h="746760">
                <a:tc>
                  <a:txBody>
                    <a:bodyPr/>
                    <a:lstStyle/>
                    <a:p>
                      <a:r>
                        <a:rPr sz="1300">
                          <a:solidFill>
                            <a:srgbClr val="212121"/>
                          </a:solidFill>
                        </a:rPr>
                        <a:t>Évolution menu sans casser l'historique</a:t>
                      </a:r>
                    </a:p>
                  </a:txBody>
                  <a:tcPr marT="38100" marB="38100" anchor="ctr">
                    <a:solidFill>
                      <a:srgbClr val="FFFFFF"/>
                    </a:solidFill>
                  </a:tcPr>
                </a:tc>
                <a:tc>
                  <a:txBody>
                    <a:bodyPr/>
                    <a:lstStyle/>
                    <a:p>
                      <a:r>
                        <a:rPr sz="1300">
                          <a:solidFill>
                            <a:srgbClr val="212121"/>
                          </a:solidFill>
                        </a:rPr>
                        <a:t>Table order_items dénormalisée</a:t>
                      </a:r>
                    </a:p>
                  </a:txBody>
                  <a:tcPr marT="38100" marB="38100" anchor="ctr">
                    <a:solidFill>
                      <a:srgbClr val="FFFFFF"/>
                    </a:solidFill>
                  </a:tcPr>
                </a:tc>
                <a:tc>
                  <a:txBody>
                    <a:bodyPr/>
                    <a:lstStyle/>
                    <a:p>
                      <a:r>
                        <a:rPr sz="1300">
                          <a:solidFill>
                            <a:srgbClr val="212121"/>
                          </a:solidFill>
                        </a:rPr>
                        <a:t>Snapshot natif via embedding</a:t>
                      </a:r>
                    </a:p>
                  </a:txBody>
                  <a:tcPr marT="38100" marB="38100" anchor="ctr">
                    <a:solidFill>
                      <a:srgbClr val="FFFFFF"/>
                    </a:solidFill>
                  </a:tcPr>
                </a:tc>
                <a:extLst>
                  <a:ext uri="{0D108BD9-81ED-4DB2-BD59-A6C34878D82A}">
                    <a16:rowId xmlns:a16="http://schemas.microsoft.com/office/drawing/2014/main" val="10002"/>
                  </a:ext>
                </a:extLst>
              </a:tr>
              <a:tr h="746760">
                <a:tc>
                  <a:txBody>
                    <a:bodyPr/>
                    <a:lstStyle/>
                    <a:p>
                      <a:r>
                        <a:rPr sz="1300">
                          <a:solidFill>
                            <a:srgbClr val="212121"/>
                          </a:solidFill>
                        </a:rPr>
                        <a:t>Schéma hétérogène</a:t>
                      </a:r>
                    </a:p>
                  </a:txBody>
                  <a:tcPr marT="38100" marB="38100" anchor="ctr">
                    <a:solidFill>
                      <a:srgbClr val="E8F5E9"/>
                    </a:solidFill>
                  </a:tcPr>
                </a:tc>
                <a:tc>
                  <a:txBody>
                    <a:bodyPr/>
                    <a:lstStyle/>
                    <a:p>
                      <a:r>
                        <a:rPr sz="1300">
                          <a:solidFill>
                            <a:srgbClr val="212121"/>
                          </a:solidFill>
                        </a:rPr>
                        <a:t>ALTER TABLE / colonnes nullables</a:t>
                      </a:r>
                    </a:p>
                  </a:txBody>
                  <a:tcPr marT="38100" marB="38100" anchor="ctr">
                    <a:solidFill>
                      <a:srgbClr val="E8F5E9"/>
                    </a:solidFill>
                  </a:tcPr>
                </a:tc>
                <a:tc>
                  <a:txBody>
                    <a:bodyPr/>
                    <a:lstStyle/>
                    <a:p>
                      <a:r>
                        <a:rPr sz="1300">
                          <a:solidFill>
                            <a:srgbClr val="212121"/>
                          </a:solidFill>
                        </a:rPr>
                        <a:t>Schéma flexible par document</a:t>
                      </a:r>
                    </a:p>
                  </a:txBody>
                  <a:tcPr marT="38100" marB="38100" anchor="ctr">
                    <a:solidFill>
                      <a:srgbClr val="E8F5E9"/>
                    </a:solidFill>
                  </a:tcPr>
                </a:tc>
                <a:extLst>
                  <a:ext uri="{0D108BD9-81ED-4DB2-BD59-A6C34878D82A}">
                    <a16:rowId xmlns:a16="http://schemas.microsoft.com/office/drawing/2014/main" val="10003"/>
                  </a:ext>
                </a:extLst>
              </a:tr>
              <a:tr h="746760">
                <a:tc>
                  <a:txBody>
                    <a:bodyPr/>
                    <a:lstStyle/>
                    <a:p>
                      <a:r>
                        <a:rPr sz="1300">
                          <a:solidFill>
                            <a:srgbClr val="212121"/>
                          </a:solidFill>
                        </a:rPr>
                        <a:t>Intégrité référentielle stricte</a:t>
                      </a:r>
                    </a:p>
                  </a:txBody>
                  <a:tcPr marT="38100" marB="38100" anchor="ctr">
                    <a:solidFill>
                      <a:srgbClr val="FFFFFF"/>
                    </a:solidFill>
                  </a:tcPr>
                </a:tc>
                <a:tc>
                  <a:txBody>
                    <a:bodyPr/>
                    <a:lstStyle/>
                    <a:p>
                      <a:r>
                        <a:rPr sz="1300">
                          <a:solidFill>
                            <a:srgbClr val="212121"/>
                          </a:solidFill>
                        </a:rPr>
                        <a:t>Native (FOREIGN KEY)</a:t>
                      </a:r>
                    </a:p>
                  </a:txBody>
                  <a:tcPr marT="38100" marB="38100" anchor="ctr">
                    <a:solidFill>
                      <a:srgbClr val="FFFFFF"/>
                    </a:solidFill>
                  </a:tcPr>
                </a:tc>
                <a:tc>
                  <a:txBody>
                    <a:bodyPr/>
                    <a:lstStyle/>
                    <a:p>
                      <a:r>
                        <a:rPr sz="1300">
                          <a:solidFill>
                            <a:srgbClr val="212121"/>
                          </a:solidFill>
                        </a:rPr>
                        <a:t>Garantie par la couche applicative</a:t>
                      </a:r>
                    </a:p>
                  </a:txBody>
                  <a:tcPr marT="38100" marB="38100" anchor="ctr">
                    <a:solidFill>
                      <a:srgbClr val="FFFFFF"/>
                    </a:solidFill>
                  </a:tcPr>
                </a:tc>
                <a:extLst>
                  <a:ext uri="{0D108BD9-81ED-4DB2-BD59-A6C34878D82A}">
                    <a16:rowId xmlns:a16="http://schemas.microsoft.com/office/drawing/2014/main" val="10004"/>
                  </a:ext>
                </a:extLst>
              </a:tr>
              <a:tr h="746760">
                <a:tc>
                  <a:txBody>
                    <a:bodyPr/>
                    <a:lstStyle/>
                    <a:p>
                      <a:r>
                        <a:rPr sz="1300">
                          <a:solidFill>
                            <a:srgbClr val="212121"/>
                          </a:solidFill>
                        </a:rPr>
                        <a:t>Montée en charge horizontale</a:t>
                      </a:r>
                    </a:p>
                  </a:txBody>
                  <a:tcPr marT="38100" marB="38100" anchor="ctr">
                    <a:solidFill>
                      <a:srgbClr val="E8F5E9"/>
                    </a:solidFill>
                  </a:tcPr>
                </a:tc>
                <a:tc>
                  <a:txBody>
                    <a:bodyPr/>
                    <a:lstStyle/>
                    <a:p>
                      <a:r>
                        <a:rPr sz="1300">
                          <a:solidFill>
                            <a:srgbClr val="212121"/>
                          </a:solidFill>
                        </a:rPr>
                        <a:t>Coûteuse en réécriture</a:t>
                      </a:r>
                    </a:p>
                  </a:txBody>
                  <a:tcPr marT="38100" marB="38100" anchor="ctr">
                    <a:solidFill>
                      <a:srgbClr val="E8F5E9"/>
                    </a:solidFill>
                  </a:tcPr>
                </a:tc>
                <a:tc>
                  <a:txBody>
                    <a:bodyPr/>
                    <a:lstStyle/>
                    <a:p>
                      <a:r>
                        <a:rPr sz="1300">
                          <a:solidFill>
                            <a:srgbClr val="212121"/>
                          </a:solidFill>
                        </a:rPr>
                        <a:t>Pensée dès la conception (sharding)</a:t>
                      </a:r>
                    </a:p>
                  </a:txBody>
                  <a:tcPr marT="38100" marB="38100" anchor="ctr">
                    <a:solidFill>
                      <a:srgbClr val="E8F5E9"/>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8" name="TextBox 7"/>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9. DIFFICULTÉS RENCONTRÉES</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Choix assumés et points de vigilance</a:t>
            </a:r>
          </a:p>
        </p:txBody>
      </p:sp>
      <p:sp>
        <p:nvSpPr>
          <p:cNvPr id="6" name="TextBox 5"/>
          <p:cNvSpPr txBox="1"/>
          <p:nvPr/>
        </p:nvSpPr>
        <p:spPr>
          <a:xfrm>
            <a:off x="502920" y="1371600"/>
            <a:ext cx="11155680" cy="4846320"/>
          </a:xfrm>
          <a:prstGeom prst="rect">
            <a:avLst/>
          </a:prstGeom>
          <a:noFill/>
        </p:spPr>
        <p:txBody>
          <a:bodyPr wrap="square">
            <a:spAutoFit/>
          </a:bodyPr>
          <a:lstStyle/>
          <a:p>
            <a:pPr>
              <a:lnSpc>
                <a:spcPct val="105000"/>
              </a:lnSpc>
              <a:spcAft>
                <a:spcPts val="1400"/>
              </a:spcAft>
            </a:pPr>
            <a:r>
              <a:rPr sz="1600" b="1">
                <a:solidFill>
                  <a:srgbClr val="2E7D32"/>
                </a:solidFill>
                <a:latin typeface="Calibri"/>
              </a:rPr>
              <a:t>●  Rendre explain() significatif</a:t>
            </a:r>
            <a:r>
              <a:rPr sz="1600">
                <a:solidFill>
                  <a:srgbClr val="212121"/>
                </a:solidFill>
                <a:latin typeface="Calibri"/>
              </a:rPr>
              <a:t>  seed dédié à 500 commandes pour rendre l'écart COLLSCAN/IXSCAN mesurable</a:t>
            </a:r>
          </a:p>
          <a:p>
            <a:pPr>
              <a:lnSpc>
                <a:spcPct val="105000"/>
              </a:lnSpc>
              <a:spcAft>
                <a:spcPts val="1400"/>
              </a:spcAft>
            </a:pPr>
            <a:r>
              <a:rPr sz="1600" b="1">
                <a:solidFill>
                  <a:srgbClr val="2E7D32"/>
                </a:solidFill>
                <a:latin typeface="Calibri"/>
              </a:rPr>
              <a:t>●  Arbitrer l'embedding du tracé GPS</a:t>
            </a:r>
            <a:r>
              <a:rPr sz="1600">
                <a:solidFill>
                  <a:srgbClr val="212121"/>
                </a:solidFill>
                <a:latin typeface="Calibri"/>
              </a:rPr>
              <a:t>  vérification explicite de la limite 16 Mo, repli Redis Streams documenté</a:t>
            </a:r>
          </a:p>
          <a:p>
            <a:pPr>
              <a:lnSpc>
                <a:spcPct val="105000"/>
              </a:lnSpc>
              <a:spcAft>
                <a:spcPts val="1400"/>
              </a:spcAft>
            </a:pPr>
            <a:r>
              <a:rPr sz="1600" b="1">
                <a:solidFill>
                  <a:srgbClr val="2E7D32"/>
                </a:solidFill>
                <a:latin typeface="Calibri"/>
              </a:rPr>
              <a:t>●  Synchroniser scripts mongosh et code Mongoose</a:t>
            </a:r>
            <a:r>
              <a:rPr sz="1600">
                <a:solidFill>
                  <a:srgbClr val="212121"/>
                </a:solidFill>
                <a:latin typeface="Calibri"/>
              </a:rPr>
              <a:t>  toujours écrire la version Mongoose en premier, puis la transposer</a:t>
            </a:r>
          </a:p>
          <a:p>
            <a:pPr>
              <a:lnSpc>
                <a:spcPct val="105000"/>
              </a:lnSpc>
              <a:spcAft>
                <a:spcPts val="1400"/>
              </a:spcAft>
            </a:pPr>
            <a:r>
              <a:rPr sz="1600" b="1">
                <a:solidFill>
                  <a:srgbClr val="2E7D32"/>
                </a:solidFill>
                <a:latin typeface="Calibri"/>
              </a:rPr>
              <a:t>●  Éviter la double réservation de stock</a:t>
            </a:r>
            <a:r>
              <a:rPr sz="1600">
                <a:solidFill>
                  <a:srgbClr val="212121"/>
                </a:solidFill>
                <a:latin typeface="Calibri"/>
              </a:rPr>
              <a:t>  mise à jour atomique conditionnelle (quantity &gt; 0 + $inc -1)</a:t>
            </a:r>
          </a:p>
          <a:p>
            <a:pPr>
              <a:lnSpc>
                <a:spcPct val="105000"/>
              </a:lnSpc>
              <a:spcAft>
                <a:spcPts val="1400"/>
              </a:spcAft>
            </a:pPr>
            <a:r>
              <a:rPr sz="1600" b="1">
                <a:solidFill>
                  <a:srgbClr val="2E7D32"/>
                </a:solidFill>
                <a:latin typeface="Calibri"/>
              </a:rPr>
              <a:t>●  Répartition du travail en équipe de 3</a:t>
            </a:r>
            <a:r>
              <a:rPr sz="1600">
                <a:solidFill>
                  <a:srgbClr val="212121"/>
                </a:solidFill>
                <a:latin typeface="Calibri"/>
              </a:rPr>
              <a:t>  socle obligatoire prioritaire avant les livrables bonus</a:t>
            </a:r>
          </a:p>
        </p:txBody>
      </p:sp>
      <p:sp>
        <p:nvSpPr>
          <p:cNvPr id="7" name="TextBox 6"/>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8" name="TextBox 7"/>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10058400" cy="320040"/>
          </a:xfrm>
          <a:prstGeom prst="rect">
            <a:avLst/>
          </a:prstGeom>
          <a:noFill/>
        </p:spPr>
        <p:txBody>
          <a:bodyPr wrap="square" anchor="t">
            <a:spAutoFit/>
          </a:bodyPr>
          <a:lstStyle/>
          <a:p>
            <a:pPr algn="l">
              <a:lnSpc>
                <a:spcPct val="100000"/>
              </a:lnSpc>
            </a:pPr>
            <a:r>
              <a:rPr sz="1300" b="1" i="0">
                <a:solidFill>
                  <a:srgbClr val="C8E6C9"/>
                </a:solidFill>
                <a:latin typeface="Calibri"/>
              </a:rPr>
              <a:t>10. CONCLUSION</a:t>
            </a:r>
          </a:p>
        </p:txBody>
      </p:sp>
      <p:sp>
        <p:nvSpPr>
          <p:cNvPr id="5" name="TextBox 4"/>
          <p:cNvSpPr txBox="1"/>
          <p:nvPr/>
        </p:nvSpPr>
        <p:spPr>
          <a:xfrm>
            <a:off x="502920" y="384048"/>
            <a:ext cx="10972800" cy="594360"/>
          </a:xfrm>
          <a:prstGeom prst="rect">
            <a:avLst/>
          </a:prstGeom>
          <a:noFill/>
        </p:spPr>
        <p:txBody>
          <a:bodyPr wrap="square" anchor="t">
            <a:spAutoFit/>
          </a:bodyPr>
          <a:lstStyle/>
          <a:p>
            <a:pPr algn="l">
              <a:lnSpc>
                <a:spcPct val="100000"/>
              </a:lnSpc>
            </a:pPr>
            <a:r>
              <a:rPr sz="2800" b="1" i="0">
                <a:solidFill>
                  <a:srgbClr val="FFFFFF"/>
                </a:solidFill>
                <a:latin typeface="Calibri"/>
              </a:rPr>
              <a:t>Bilan &amp; pistes d'amélioration</a:t>
            </a:r>
          </a:p>
        </p:txBody>
      </p:sp>
      <p:sp>
        <p:nvSpPr>
          <p:cNvPr id="6" name="TextBox 5"/>
          <p:cNvSpPr txBox="1"/>
          <p:nvPr/>
        </p:nvSpPr>
        <p:spPr>
          <a:xfrm>
            <a:off x="502920" y="1325880"/>
            <a:ext cx="11155680" cy="1371600"/>
          </a:xfrm>
          <a:prstGeom prst="rect">
            <a:avLst/>
          </a:prstGeom>
          <a:noFill/>
        </p:spPr>
        <p:txBody>
          <a:bodyPr wrap="square" anchor="t">
            <a:spAutoFit/>
          </a:bodyPr>
          <a:lstStyle/>
          <a:p>
            <a:pPr algn="l">
              <a:lnSpc>
                <a:spcPct val="125000"/>
              </a:lnSpc>
            </a:pPr>
            <a:r>
              <a:rPr sz="1600" b="0" i="0">
                <a:solidFill>
                  <a:srgbClr val="212121"/>
                </a:solidFill>
                <a:latin typeface="Calibri"/>
              </a:rPr>
              <a:t>Le projet démontre l'ensemble des compétences NoSQL attendues : modélisation documentaire justifiée, CRUD complet, requêtes avancées, pipelines d'agrégation avec $lookup, et une stratégie d'indexation mesurée (COLLSCAN → IXSCAN) — complétés par une implémentation réelle (API JWT, cache Redis, Socket.io, frontend Next.js).</a:t>
            </a:r>
          </a:p>
        </p:txBody>
      </p:sp>
      <p:sp>
        <p:nvSpPr>
          <p:cNvPr id="7" name="TextBox 6"/>
          <p:cNvSpPr txBox="1"/>
          <p:nvPr/>
        </p:nvSpPr>
        <p:spPr>
          <a:xfrm>
            <a:off x="502920" y="2834640"/>
            <a:ext cx="11155680" cy="365760"/>
          </a:xfrm>
          <a:prstGeom prst="rect">
            <a:avLst/>
          </a:prstGeom>
          <a:noFill/>
        </p:spPr>
        <p:txBody>
          <a:bodyPr wrap="square" anchor="t">
            <a:spAutoFit/>
          </a:bodyPr>
          <a:lstStyle/>
          <a:p>
            <a:pPr algn="l">
              <a:lnSpc>
                <a:spcPct val="100000"/>
              </a:lnSpc>
            </a:pPr>
            <a:r>
              <a:rPr sz="1800" b="1" i="0">
                <a:solidFill>
                  <a:srgbClr val="1B5E20"/>
                </a:solidFill>
                <a:latin typeface="Calibri"/>
              </a:rPr>
              <a:t>Pistes d'amélioration</a:t>
            </a:r>
          </a:p>
        </p:txBody>
      </p:sp>
      <p:sp>
        <p:nvSpPr>
          <p:cNvPr id="8" name="TextBox 7"/>
          <p:cNvSpPr txBox="1"/>
          <p:nvPr/>
        </p:nvSpPr>
        <p:spPr>
          <a:xfrm>
            <a:off x="502920" y="3291840"/>
            <a:ext cx="11155680" cy="2743200"/>
          </a:xfrm>
          <a:prstGeom prst="rect">
            <a:avLst/>
          </a:prstGeom>
          <a:noFill/>
        </p:spPr>
        <p:txBody>
          <a:bodyPr wrap="square">
            <a:spAutoFit/>
          </a:bodyPr>
          <a:lstStyle/>
          <a:p>
            <a:pPr>
              <a:lnSpc>
                <a:spcPct val="105000"/>
              </a:lnSpc>
              <a:spcAft>
                <a:spcPts val="1200"/>
              </a:spcAft>
            </a:pPr>
            <a:r>
              <a:rPr sz="1600">
                <a:solidFill>
                  <a:srgbClr val="212121"/>
                </a:solidFill>
                <a:latin typeface="Calibri"/>
              </a:rPr>
              <a:t>●  Sharding de commandes par restaurant_id à grande échelle</a:t>
            </a:r>
          </a:p>
          <a:p>
            <a:pPr>
              <a:lnSpc>
                <a:spcPct val="105000"/>
              </a:lnSpc>
              <a:spcAft>
                <a:spcPts val="1200"/>
              </a:spcAft>
            </a:pPr>
            <a:r>
              <a:rPr sz="1600">
                <a:solidFill>
                  <a:srgbClr val="212121"/>
                </a:solidFill>
                <a:latin typeface="Calibri"/>
              </a:rPr>
              <a:t>●  Time-series collection native (MongoDB 5.0+) pour deliveryTracking</a:t>
            </a:r>
          </a:p>
          <a:p>
            <a:pPr>
              <a:lnSpc>
                <a:spcPct val="105000"/>
              </a:lnSpc>
              <a:spcAft>
                <a:spcPts val="1200"/>
              </a:spcAft>
            </a:pPr>
            <a:r>
              <a:rPr sz="1600">
                <a:solidFill>
                  <a:srgbClr val="212121"/>
                </a:solidFill>
                <a:latin typeface="Calibri"/>
              </a:rPr>
              <a:t>●  Vues matérialisées pour les statistiques agrégées les plus consultées</a:t>
            </a:r>
          </a:p>
          <a:p>
            <a:pPr>
              <a:lnSpc>
                <a:spcPct val="105000"/>
              </a:lnSpc>
              <a:spcAft>
                <a:spcPts val="1200"/>
              </a:spcAft>
            </a:pPr>
            <a:r>
              <a:rPr sz="1600">
                <a:solidFill>
                  <a:srgbClr val="212121"/>
                </a:solidFill>
                <a:latin typeface="Calibri"/>
              </a:rPr>
              <a:t>●  Transactions MongoDB explicites pour les écritures multi-documents</a:t>
            </a:r>
          </a:p>
        </p:txBody>
      </p:sp>
      <p:sp>
        <p:nvSpPr>
          <p:cNvPr id="9" name="TextBox 8"/>
          <p:cNvSpPr txBox="1"/>
          <p:nvPr/>
        </p:nvSpPr>
        <p:spPr>
          <a:xfrm>
            <a:off x="502920" y="6510528"/>
            <a:ext cx="5486400" cy="274320"/>
          </a:xfrm>
          <a:prstGeom prst="rect">
            <a:avLst/>
          </a:prstGeom>
          <a:noFill/>
        </p:spPr>
        <p:txBody>
          <a:bodyPr wrap="square" anchor="t">
            <a:spAutoFit/>
          </a:bodyPr>
          <a:lstStyle/>
          <a:p>
            <a:pPr algn="l">
              <a:lnSpc>
                <a:spcPct val="100000"/>
              </a:lnSpc>
            </a:pPr>
            <a:r>
              <a:rPr sz="1000" b="0" i="0">
                <a:solidFill>
                  <a:srgbClr val="555555"/>
                </a:solidFill>
                <a:latin typeface="Calibri"/>
              </a:rPr>
              <a:t>Libreville Eats — Projet NoSQL — Groupe 3</a:t>
            </a:r>
          </a:p>
        </p:txBody>
      </p:sp>
      <p:sp>
        <p:nvSpPr>
          <p:cNvPr id="10" name="TextBox 9"/>
          <p:cNvSpPr txBox="1"/>
          <p:nvPr/>
        </p:nvSpPr>
        <p:spPr>
          <a:xfrm>
            <a:off x="10972800" y="6510528"/>
            <a:ext cx="731520" cy="274320"/>
          </a:xfrm>
          <a:prstGeom prst="rect">
            <a:avLst/>
          </a:prstGeom>
          <a:noFill/>
        </p:spPr>
        <p:txBody>
          <a:bodyPr wrap="square" anchor="t">
            <a:spAutoFit/>
          </a:bodyPr>
          <a:lstStyle/>
          <a:p>
            <a:pPr algn="r">
              <a:lnSpc>
                <a:spcPct val="100000"/>
              </a:lnSpc>
            </a:pPr>
            <a:r>
              <a:rPr sz="1000" b="0" i="0">
                <a:solidFill>
                  <a:srgbClr val="555555"/>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5E20"/>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77440"/>
            <a:ext cx="10515600" cy="914400"/>
          </a:xfrm>
          <a:prstGeom prst="rect">
            <a:avLst/>
          </a:prstGeom>
          <a:noFill/>
        </p:spPr>
        <p:txBody>
          <a:bodyPr wrap="square" anchor="t">
            <a:spAutoFit/>
          </a:bodyPr>
          <a:lstStyle/>
          <a:p>
            <a:pPr algn="ctr">
              <a:lnSpc>
                <a:spcPct val="100000"/>
              </a:lnSpc>
            </a:pPr>
            <a:r>
              <a:rPr sz="4400" b="1" i="0">
                <a:solidFill>
                  <a:srgbClr val="FFFFFF"/>
                </a:solidFill>
                <a:latin typeface="Calibri"/>
              </a:rPr>
              <a:t>Merci de votre attention</a:t>
            </a:r>
          </a:p>
        </p:txBody>
      </p:sp>
      <p:sp>
        <p:nvSpPr>
          <p:cNvPr id="4" name="TextBox 3"/>
          <p:cNvSpPr txBox="1"/>
          <p:nvPr/>
        </p:nvSpPr>
        <p:spPr>
          <a:xfrm>
            <a:off x="822960" y="3291840"/>
            <a:ext cx="10515600" cy="548640"/>
          </a:xfrm>
          <a:prstGeom prst="rect">
            <a:avLst/>
          </a:prstGeom>
          <a:noFill/>
        </p:spPr>
        <p:txBody>
          <a:bodyPr wrap="square" anchor="t">
            <a:spAutoFit/>
          </a:bodyPr>
          <a:lstStyle/>
          <a:p>
            <a:pPr algn="ctr">
              <a:lnSpc>
                <a:spcPct val="100000"/>
              </a:lnSpc>
            </a:pPr>
            <a:r>
              <a:rPr sz="2200" b="0" i="0">
                <a:solidFill>
                  <a:srgbClr val="C8E6C9"/>
                </a:solidFill>
                <a:latin typeface="Calibri"/>
              </a:rPr>
              <a:t>Questions ?</a:t>
            </a:r>
          </a:p>
        </p:txBody>
      </p:sp>
      <p:sp>
        <p:nvSpPr>
          <p:cNvPr id="5" name="TextBox 4"/>
          <p:cNvSpPr txBox="1"/>
          <p:nvPr/>
        </p:nvSpPr>
        <p:spPr>
          <a:xfrm>
            <a:off x="822960" y="6035040"/>
            <a:ext cx="10515600" cy="457200"/>
          </a:xfrm>
          <a:prstGeom prst="rect">
            <a:avLst/>
          </a:prstGeom>
          <a:noFill/>
        </p:spPr>
        <p:txBody>
          <a:bodyPr wrap="square" anchor="t">
            <a:spAutoFit/>
          </a:bodyPr>
          <a:lstStyle/>
          <a:p>
            <a:pPr algn="ctr">
              <a:lnSpc>
                <a:spcPct val="100000"/>
              </a:lnSpc>
            </a:pPr>
            <a:r>
              <a:rPr sz="1400" b="0" i="0">
                <a:solidFill>
                  <a:srgbClr val="C8E6C9"/>
                </a:solidFill>
                <a:latin typeface="Calibri"/>
              </a:rPr>
              <a:t>Dépôt GitHub : projet-nosql-groupeN3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8BEA0D9-DB7E-7B40-BE45-EDDC6C335C5D}">
  <we:reference id="WA200002864" version="1.4.0.0" store="Omex" storeType="OMEX"/>
  <we:alternateReferences>
    <we:reference id="WA200002864" version="1.4.0.0" store="WA20000286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187</TotalTime>
  <Words>1517</Words>
  <Application>Microsoft Macintosh PowerPoint</Application>
  <PresentationFormat>Grand écran</PresentationFormat>
  <Paragraphs>234</Paragraphs>
  <Slides>15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KOUMBA Stephane-valery</cp:lastModifiedBy>
  <cp:revision>3</cp:revision>
  <dcterms:created xsi:type="dcterms:W3CDTF">2013-01-27T09:14:16Z</dcterms:created>
  <dcterms:modified xsi:type="dcterms:W3CDTF">2026-06-26T20:25:49Z</dcterms:modified>
  <cp:category/>
</cp:coreProperties>
</file>